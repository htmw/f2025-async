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Lst>
  <p:sldSz cy="5143500" cx="9144000"/>
  <p:notesSz cx="6858000" cy="9144000"/>
  <p:embeddedFontLst>
    <p:embeddedFont>
      <p:font typeface="Nunito"/>
      <p:regular r:id="rId46"/>
      <p:bold r:id="rId47"/>
      <p:italic r:id="rId48"/>
      <p:boldItalic r:id="rId49"/>
    </p:embeddedFont>
    <p:embeddedFont>
      <p:font typeface="Lato"/>
      <p:regular r:id="rId50"/>
      <p:bold r:id="rId51"/>
      <p:italic r:id="rId52"/>
      <p:boldItalic r:id="rId5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font" Target="fonts/Nunito-regular.fntdata"/><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Nunito-italic.fntdata"/><Relationship Id="rId47" Type="http://schemas.openxmlformats.org/officeDocument/2006/relationships/font" Target="fonts/Nunito-bold.fntdata"/><Relationship Id="rId49" Type="http://schemas.openxmlformats.org/officeDocument/2006/relationships/font" Target="fonts/Nunito-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Lato-bold.fntdata"/><Relationship Id="rId50" Type="http://schemas.openxmlformats.org/officeDocument/2006/relationships/font" Target="fonts/Lato-regular.fntdata"/><Relationship Id="rId53" Type="http://schemas.openxmlformats.org/officeDocument/2006/relationships/font" Target="fonts/Lato-boldItalic.fntdata"/><Relationship Id="rId52" Type="http://schemas.openxmlformats.org/officeDocument/2006/relationships/font" Target="fonts/Lato-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8169d32be7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38169d32be7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Maya -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8169d32be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8169d32be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 Maya -&gt; brian</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9b10264ef3_2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39b10264ef3_2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Brian</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81726038ef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381726038ef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Brian</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9b10264ef3_9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39b10264ef3_9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Brian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38169d32be7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38169d32be7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Maya - DJ Two Tone represents local DJs who want to </a:t>
            </a:r>
            <a:r>
              <a:rPr lang="en"/>
              <a:t>elevate their sets by incorporating  culturally relevant and lesser-known music. He values discovering niche genres tied to specific locations and needs a faster and reliable way to access and integrate this music without actually relying on scattered sources. Our platform helps him discover and blend local sounds into his performances</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38169d32be7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 name="Google Shape;182;g38169d32be7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Maya - Tobi is representative emerging musicians trying to break into the industry </a:t>
            </a:r>
            <a:r>
              <a:rPr lang="en"/>
              <a:t>through</a:t>
            </a:r>
            <a:r>
              <a:rPr lang="en"/>
              <a:t> local scenes. He needs better opportunities for visibility, collaboration, and networking to grow his career. The platform supports creators like Tobi by fostering community connections and promoting local talent.</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38169d32be7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38169d32be7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Maya -&gt; to Ben slide Glenn represents music-loving listeners especially older ones who want to explore new artists beyond mainstream recommendations. While he regularly uses streaming platforms, discovering local or emerging young performers is challenging. Our platform makes it easier for users like Glenn to find and support fresh, local music tailored to their tastes.</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490730b66d_0_13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 name="Google Shape;196;g3490730b66d_0_13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Ben</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36634680f4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2" name="Google Shape;202;g36634680f4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Pete</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39b10264ef3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9" name="Google Shape;209;g39b10264ef3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Emmet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39b10264ef3_5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g39b10264ef3_5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Christos</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39b10264ef3_5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1" name="Google Shape;221;g39b10264ef3_5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Christos</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39b10264ef3_5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7" name="Google Shape;227;g39b10264ef3_5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Pete</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3b179d4fc8d_3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3" name="Google Shape;233;g3b179d4fc8d_3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t>This diagram is our front end routing schema illustrates how listeners navigate through the front end of our application. Users begin their experience on the home page, where they are introduced to the platform, and from there they navigate to the search page. On the search page, listeners can explore artists based on their selected criteria, and choosing an artist routes them to the artist page.</a:t>
            </a:r>
            <a:endParaRPr/>
          </a:p>
          <a:p>
            <a:pPr indent="0" lvl="0" marL="0" rtl="0" algn="l">
              <a:lnSpc>
                <a:spcPct val="115000"/>
              </a:lnSpc>
              <a:spcBef>
                <a:spcPts val="1200"/>
              </a:spcBef>
              <a:spcAft>
                <a:spcPts val="0"/>
              </a:spcAft>
              <a:buClr>
                <a:schemeClr val="dk1"/>
              </a:buClr>
              <a:buSzPts val="1100"/>
              <a:buFont typeface="Arial"/>
              <a:buNone/>
            </a:pPr>
            <a:r>
              <a:rPr lang="en"/>
              <a:t>Each page is built using reusable components such as the hero section, footer, and location-based components to maintain consistency across the application and streamline development. The artist page dynamically fetches data from our backend API and renders key components including the artist header, popular tracks, and artist information.</a:t>
            </a:r>
            <a:r>
              <a:rPr lang="en">
                <a:solidFill>
                  <a:schemeClr val="dk1"/>
                </a:solidFill>
              </a:rPr>
              <a:t> Moving this on to Ben</a:t>
            </a:r>
            <a:endParaRPr/>
          </a:p>
          <a:p>
            <a:pPr indent="0" lvl="0" marL="0" rtl="0" algn="l">
              <a:spcBef>
                <a:spcPts val="120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3b179d4fc8d_3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9" name="Google Shape;239;g3b179d4fc8d_3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Ben</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3b179d4fc8d_3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5" name="Google Shape;245;g3b179d4fc8d_3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Pete</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3b179d4fc8d_3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1" name="Google Shape;251;g3b179d4fc8d_3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Pete</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3b179d4fc8d_3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9" name="Google Shape;259;g3b179d4fc8d_3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Pete</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39b10264ef3_7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6" name="Google Shape;266;g39b10264ef3_7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Jalen</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3a46d9feb13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3" name="Google Shape;273;g3a46d9feb13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Jalen</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3b179d4fc8d_7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0" name="Google Shape;280;g3b179d4fc8d_7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Jalen</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38169d32be7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7" name="Google Shape;287;g38169d32be7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Emmet</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g3a46d9feb13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2" name="Google Shape;302;g3a46d9feb13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Emmet</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g39b10264ef3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8" name="Google Shape;308;g39b10264ef3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g39b10264ef3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5" name="Google Shape;315;g39b10264ef3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Emmet</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g3b179d4fc8d_3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1" name="Google Shape;321;g3b179d4fc8d_3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Emmet</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g3b179d4fc8d_3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7" name="Google Shape;327;g3b179d4fc8d_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Emmet</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g3b179d4fc8d_3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3" name="Google Shape;333;g3b179d4fc8d_3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Emmet</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g3b179d4fc8d_3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9" name="Google Shape;339;g3b179d4fc8d_3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Emmet</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g3b179d4fc8d_3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5" name="Google Shape;345;g3b179d4fc8d_3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Emmet</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g3b179d4fc8d_3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1" name="Google Shape;351;g3b179d4fc8d_3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Jalen</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g3b179d4fc8d_3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7" name="Google Shape;357;g3b179d4fc8d_3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Jalen</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g3a46d9feb1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3" name="Google Shape;363;g3a46d9feb1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Brian</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g3a46d9feb13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9" name="Google Shape;369;g3a46d9feb13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Brian</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g38169d32be7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5" name="Google Shape;375;g38169d32be7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Ben</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g3490730b66d_0_14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2" name="Google Shape;382;g3490730b66d_0_14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Ben</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g39b10264ef3_9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9" name="Google Shape;389;g39b10264ef3_9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Ben</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g3490730b66d_0_14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5" name="Google Shape;395;g3490730b66d_0_14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Ben</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6"/>
        </a:solidFill>
      </p:bgPr>
    </p:bg>
    <p:spTree>
      <p:nvGrpSpPr>
        <p:cNvPr id="9" name="Shape 9"/>
        <p:cNvGrpSpPr/>
        <p:nvPr/>
      </p:nvGrpSpPr>
      <p:grpSpPr>
        <a:xfrm>
          <a:off x="0" y="0"/>
          <a:ext cx="0" cy="0"/>
          <a:chOff x="0" y="0"/>
          <a:chExt cx="0" cy="0"/>
        </a:xfrm>
      </p:grpSpPr>
      <p:sp>
        <p:nvSpPr>
          <p:cNvPr id="10" name="Google Shape;10;p2"/>
          <p:cNvSpPr/>
          <p:nvPr/>
        </p:nvSpPr>
        <p:spPr>
          <a:xfrm>
            <a:off x="31" y="2824500"/>
            <a:ext cx="7370400" cy="23190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flipH="1">
            <a:off x="3582600" y="1550700"/>
            <a:ext cx="5561400" cy="35928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rot="10800000">
            <a:off x="5058905" y="0"/>
            <a:ext cx="4085100" cy="20526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20327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 name="Google Shape;14;p2"/>
          <p:cNvGrpSpPr/>
          <p:nvPr/>
        </p:nvGrpSpPr>
        <p:grpSpPr>
          <a:xfrm>
            <a:off x="255200" y="592"/>
            <a:ext cx="2250363" cy="1044300"/>
            <a:chOff x="255200" y="592"/>
            <a:chExt cx="2250363" cy="1044300"/>
          </a:xfrm>
        </p:grpSpPr>
        <p:sp>
          <p:nvSpPr>
            <p:cNvPr id="15" name="Google Shape;15;p2"/>
            <p:cNvSpPr/>
            <p:nvPr/>
          </p:nvSpPr>
          <p:spPr>
            <a:xfrm>
              <a:off x="764063"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509632"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255200"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 name="Google Shape;18;p2"/>
          <p:cNvGrpSpPr/>
          <p:nvPr/>
        </p:nvGrpSpPr>
        <p:grpSpPr>
          <a:xfrm>
            <a:off x="905395" y="592"/>
            <a:ext cx="2250363" cy="1044300"/>
            <a:chOff x="905395" y="592"/>
            <a:chExt cx="2250363" cy="1044300"/>
          </a:xfrm>
        </p:grpSpPr>
        <p:sp>
          <p:nvSpPr>
            <p:cNvPr id="19" name="Google Shape;19;p2"/>
            <p:cNvSpPr/>
            <p:nvPr/>
          </p:nvSpPr>
          <p:spPr>
            <a:xfrm>
              <a:off x="1414258"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1159826"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a:off x="905395"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 name="Google Shape;22;p2"/>
          <p:cNvGrpSpPr/>
          <p:nvPr/>
        </p:nvGrpSpPr>
        <p:grpSpPr>
          <a:xfrm>
            <a:off x="7057468" y="5088"/>
            <a:ext cx="1851282" cy="752108"/>
            <a:chOff x="6917201" y="0"/>
            <a:chExt cx="2227777" cy="863400"/>
          </a:xfrm>
        </p:grpSpPr>
        <p:sp>
          <p:nvSpPr>
            <p:cNvPr id="23" name="Google Shape;23;p2"/>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2"/>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2"/>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 name="Google Shape;26;p2"/>
          <p:cNvGrpSpPr/>
          <p:nvPr/>
        </p:nvGrpSpPr>
        <p:grpSpPr>
          <a:xfrm>
            <a:off x="6553032" y="4217852"/>
            <a:ext cx="2389068" cy="925737"/>
            <a:chOff x="6917201" y="0"/>
            <a:chExt cx="2227777" cy="863400"/>
          </a:xfrm>
        </p:grpSpPr>
        <p:sp>
          <p:nvSpPr>
            <p:cNvPr id="27" name="Google Shape;27;p2"/>
            <p:cNvSpPr/>
            <p:nvPr/>
          </p:nvSpPr>
          <p:spPr>
            <a:xfrm>
              <a:off x="7641677"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a:off x="7279439"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2"/>
            <p:cNvSpPr/>
            <p:nvPr/>
          </p:nvSpPr>
          <p:spPr>
            <a:xfrm>
              <a:off x="6917201"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 name="Google Shape;30;p2"/>
          <p:cNvGrpSpPr/>
          <p:nvPr/>
        </p:nvGrpSpPr>
        <p:grpSpPr>
          <a:xfrm>
            <a:off x="199149" y="4055652"/>
            <a:ext cx="2795414" cy="1083308"/>
            <a:chOff x="6917201" y="0"/>
            <a:chExt cx="2227777" cy="863400"/>
          </a:xfrm>
        </p:grpSpPr>
        <p:sp>
          <p:nvSpPr>
            <p:cNvPr id="31" name="Google Shape;31;p2"/>
            <p:cNvSpPr/>
            <p:nvPr/>
          </p:nvSpPr>
          <p:spPr>
            <a:xfrm>
              <a:off x="7641677"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2"/>
            <p:cNvSpPr/>
            <p:nvPr/>
          </p:nvSpPr>
          <p:spPr>
            <a:xfrm>
              <a:off x="7279439"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2"/>
            <p:cNvSpPr/>
            <p:nvPr/>
          </p:nvSpPr>
          <p:spPr>
            <a:xfrm>
              <a:off x="6917201"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4" name="Google Shape;34;p2"/>
          <p:cNvSpPr txBox="1"/>
          <p:nvPr>
            <p:ph type="ctrTitle"/>
          </p:nvPr>
        </p:nvSpPr>
        <p:spPr>
          <a:xfrm>
            <a:off x="1858703" y="1822833"/>
            <a:ext cx="5361300" cy="14481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p:txBody>
      </p:sp>
      <p:sp>
        <p:nvSpPr>
          <p:cNvPr id="35" name="Google Shape;35;p2"/>
          <p:cNvSpPr txBox="1"/>
          <p:nvPr>
            <p:ph idx="1" type="subTitle"/>
          </p:nvPr>
        </p:nvSpPr>
        <p:spPr>
          <a:xfrm>
            <a:off x="1858700" y="3413158"/>
            <a:ext cx="5361300" cy="52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1600"/>
              <a:buNone/>
              <a:defRPr sz="1600">
                <a:solidFill>
                  <a:schemeClr val="lt1"/>
                </a:solidFill>
              </a:defRPr>
            </a:lvl1pPr>
            <a:lvl2pPr lvl="1" algn="ctr">
              <a:lnSpc>
                <a:spcPct val="100000"/>
              </a:lnSpc>
              <a:spcBef>
                <a:spcPts val="0"/>
              </a:spcBef>
              <a:spcAft>
                <a:spcPts val="0"/>
              </a:spcAft>
              <a:buClr>
                <a:schemeClr val="lt1"/>
              </a:buClr>
              <a:buSzPts val="1600"/>
              <a:buNone/>
              <a:defRPr sz="1600">
                <a:solidFill>
                  <a:schemeClr val="lt1"/>
                </a:solidFill>
              </a:defRPr>
            </a:lvl2pPr>
            <a:lvl3pPr lvl="2" algn="ctr">
              <a:lnSpc>
                <a:spcPct val="100000"/>
              </a:lnSpc>
              <a:spcBef>
                <a:spcPts val="0"/>
              </a:spcBef>
              <a:spcAft>
                <a:spcPts val="0"/>
              </a:spcAft>
              <a:buClr>
                <a:schemeClr val="lt1"/>
              </a:buClr>
              <a:buSzPts val="1600"/>
              <a:buNone/>
              <a:defRPr sz="1600">
                <a:solidFill>
                  <a:schemeClr val="lt1"/>
                </a:solidFill>
              </a:defRPr>
            </a:lvl3pPr>
            <a:lvl4pPr lvl="3" algn="ctr">
              <a:lnSpc>
                <a:spcPct val="100000"/>
              </a:lnSpc>
              <a:spcBef>
                <a:spcPts val="0"/>
              </a:spcBef>
              <a:spcAft>
                <a:spcPts val="0"/>
              </a:spcAft>
              <a:buClr>
                <a:schemeClr val="lt1"/>
              </a:buClr>
              <a:buSzPts val="1600"/>
              <a:buNone/>
              <a:defRPr sz="1600">
                <a:solidFill>
                  <a:schemeClr val="lt1"/>
                </a:solidFill>
              </a:defRPr>
            </a:lvl4pPr>
            <a:lvl5pPr lvl="4" algn="ctr">
              <a:lnSpc>
                <a:spcPct val="100000"/>
              </a:lnSpc>
              <a:spcBef>
                <a:spcPts val="0"/>
              </a:spcBef>
              <a:spcAft>
                <a:spcPts val="0"/>
              </a:spcAft>
              <a:buClr>
                <a:schemeClr val="lt1"/>
              </a:buClr>
              <a:buSzPts val="1600"/>
              <a:buNone/>
              <a:defRPr sz="1600">
                <a:solidFill>
                  <a:schemeClr val="lt1"/>
                </a:solidFill>
              </a:defRPr>
            </a:lvl5pPr>
            <a:lvl6pPr lvl="5" algn="ctr">
              <a:lnSpc>
                <a:spcPct val="100000"/>
              </a:lnSpc>
              <a:spcBef>
                <a:spcPts val="0"/>
              </a:spcBef>
              <a:spcAft>
                <a:spcPts val="0"/>
              </a:spcAft>
              <a:buClr>
                <a:schemeClr val="lt1"/>
              </a:buClr>
              <a:buSzPts val="1600"/>
              <a:buNone/>
              <a:defRPr sz="1600">
                <a:solidFill>
                  <a:schemeClr val="lt1"/>
                </a:solidFill>
              </a:defRPr>
            </a:lvl6pPr>
            <a:lvl7pPr lvl="6" algn="ctr">
              <a:lnSpc>
                <a:spcPct val="100000"/>
              </a:lnSpc>
              <a:spcBef>
                <a:spcPts val="0"/>
              </a:spcBef>
              <a:spcAft>
                <a:spcPts val="0"/>
              </a:spcAft>
              <a:buClr>
                <a:schemeClr val="lt1"/>
              </a:buClr>
              <a:buSzPts val="1600"/>
              <a:buNone/>
              <a:defRPr sz="1600">
                <a:solidFill>
                  <a:schemeClr val="lt1"/>
                </a:solidFill>
              </a:defRPr>
            </a:lvl7pPr>
            <a:lvl8pPr lvl="7" algn="ctr">
              <a:lnSpc>
                <a:spcPct val="100000"/>
              </a:lnSpc>
              <a:spcBef>
                <a:spcPts val="0"/>
              </a:spcBef>
              <a:spcAft>
                <a:spcPts val="0"/>
              </a:spcAft>
              <a:buClr>
                <a:schemeClr val="lt1"/>
              </a:buClr>
              <a:buSzPts val="1600"/>
              <a:buNone/>
              <a:defRPr sz="1600">
                <a:solidFill>
                  <a:schemeClr val="lt1"/>
                </a:solidFill>
              </a:defRPr>
            </a:lvl8pPr>
            <a:lvl9pPr lvl="8" algn="ctr">
              <a:lnSpc>
                <a:spcPct val="100000"/>
              </a:lnSpc>
              <a:spcBef>
                <a:spcPts val="0"/>
              </a:spcBef>
              <a:spcAft>
                <a:spcPts val="0"/>
              </a:spcAft>
              <a:buClr>
                <a:schemeClr val="lt1"/>
              </a:buClr>
              <a:buSzPts val="1600"/>
              <a:buNone/>
              <a:defRPr sz="1600">
                <a:solidFill>
                  <a:schemeClr val="lt1"/>
                </a:solidFill>
              </a:defRPr>
            </a:lvl9pPr>
          </a:lstStyle>
          <a:p/>
        </p:txBody>
      </p:sp>
      <p:sp>
        <p:nvSpPr>
          <p:cNvPr id="36" name="Google Shape;36;p2"/>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3"/>
        </a:solidFill>
      </p:bgPr>
    </p:bg>
    <p:spTree>
      <p:nvGrpSpPr>
        <p:cNvPr id="37" name="Shape 37"/>
        <p:cNvGrpSpPr/>
        <p:nvPr/>
      </p:nvGrpSpPr>
      <p:grpSpPr>
        <a:xfrm>
          <a:off x="0" y="0"/>
          <a:ext cx="0" cy="0"/>
          <a:chOff x="0" y="0"/>
          <a:chExt cx="0" cy="0"/>
        </a:xfrm>
      </p:grpSpPr>
      <p:sp>
        <p:nvSpPr>
          <p:cNvPr id="38" name="Google Shape;38;p3"/>
          <p:cNvSpPr/>
          <p:nvPr/>
        </p:nvSpPr>
        <p:spPr>
          <a:xfrm flipH="1">
            <a:off x="4757100" y="2309400"/>
            <a:ext cx="4386900" cy="28341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9" name="Google Shape;39;p3"/>
          <p:cNvGrpSpPr/>
          <p:nvPr/>
        </p:nvGrpSpPr>
        <p:grpSpPr>
          <a:xfrm>
            <a:off x="5594191" y="3961115"/>
            <a:ext cx="2910145" cy="1182340"/>
            <a:chOff x="6917201" y="0"/>
            <a:chExt cx="2227777" cy="863400"/>
          </a:xfrm>
        </p:grpSpPr>
        <p:sp>
          <p:nvSpPr>
            <p:cNvPr id="40" name="Google Shape;40;p3"/>
            <p:cNvSpPr/>
            <p:nvPr/>
          </p:nvSpPr>
          <p:spPr>
            <a:xfrm>
              <a:off x="7641677"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3"/>
            <p:cNvSpPr/>
            <p:nvPr/>
          </p:nvSpPr>
          <p:spPr>
            <a:xfrm>
              <a:off x="7279439"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3"/>
            <p:cNvSpPr/>
            <p:nvPr/>
          </p:nvSpPr>
          <p:spPr>
            <a:xfrm>
              <a:off x="6917201"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 name="Google Shape;43;p3"/>
          <p:cNvGrpSpPr/>
          <p:nvPr/>
        </p:nvGrpSpPr>
        <p:grpSpPr>
          <a:xfrm>
            <a:off x="199149" y="2"/>
            <a:ext cx="2795414" cy="1083308"/>
            <a:chOff x="6917201" y="0"/>
            <a:chExt cx="2227777" cy="863400"/>
          </a:xfrm>
        </p:grpSpPr>
        <p:sp>
          <p:nvSpPr>
            <p:cNvPr id="44" name="Google Shape;44;p3"/>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3"/>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3"/>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7" name="Google Shape;47;p3"/>
          <p:cNvSpPr txBox="1"/>
          <p:nvPr>
            <p:ph type="title"/>
          </p:nvPr>
        </p:nvSpPr>
        <p:spPr>
          <a:xfrm>
            <a:off x="1888684" y="1746100"/>
            <a:ext cx="5377500" cy="16461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2"/>
              </a:buClr>
              <a:buSzPts val="3200"/>
              <a:buNone/>
              <a:defRPr sz="3200">
                <a:solidFill>
                  <a:schemeClr val="dk2"/>
                </a:solidFill>
              </a:defRPr>
            </a:lvl1pPr>
            <a:lvl2pPr lvl="1" algn="ctr">
              <a:spcBef>
                <a:spcPts val="0"/>
              </a:spcBef>
              <a:spcAft>
                <a:spcPts val="0"/>
              </a:spcAft>
              <a:buClr>
                <a:schemeClr val="dk2"/>
              </a:buClr>
              <a:buSzPts val="3200"/>
              <a:buNone/>
              <a:defRPr sz="3200">
                <a:solidFill>
                  <a:schemeClr val="dk2"/>
                </a:solidFill>
              </a:defRPr>
            </a:lvl2pPr>
            <a:lvl3pPr lvl="2" algn="ctr">
              <a:spcBef>
                <a:spcPts val="0"/>
              </a:spcBef>
              <a:spcAft>
                <a:spcPts val="0"/>
              </a:spcAft>
              <a:buClr>
                <a:schemeClr val="dk2"/>
              </a:buClr>
              <a:buSzPts val="3200"/>
              <a:buNone/>
              <a:defRPr sz="3200">
                <a:solidFill>
                  <a:schemeClr val="dk2"/>
                </a:solidFill>
              </a:defRPr>
            </a:lvl3pPr>
            <a:lvl4pPr lvl="3" algn="ctr">
              <a:spcBef>
                <a:spcPts val="0"/>
              </a:spcBef>
              <a:spcAft>
                <a:spcPts val="0"/>
              </a:spcAft>
              <a:buClr>
                <a:schemeClr val="dk2"/>
              </a:buClr>
              <a:buSzPts val="3200"/>
              <a:buNone/>
              <a:defRPr sz="3200">
                <a:solidFill>
                  <a:schemeClr val="dk2"/>
                </a:solidFill>
              </a:defRPr>
            </a:lvl4pPr>
            <a:lvl5pPr lvl="4" algn="ctr">
              <a:spcBef>
                <a:spcPts val="0"/>
              </a:spcBef>
              <a:spcAft>
                <a:spcPts val="0"/>
              </a:spcAft>
              <a:buClr>
                <a:schemeClr val="dk2"/>
              </a:buClr>
              <a:buSzPts val="3200"/>
              <a:buNone/>
              <a:defRPr sz="3200">
                <a:solidFill>
                  <a:schemeClr val="dk2"/>
                </a:solidFill>
              </a:defRPr>
            </a:lvl5pPr>
            <a:lvl6pPr lvl="5" algn="ctr">
              <a:spcBef>
                <a:spcPts val="0"/>
              </a:spcBef>
              <a:spcAft>
                <a:spcPts val="0"/>
              </a:spcAft>
              <a:buClr>
                <a:schemeClr val="dk2"/>
              </a:buClr>
              <a:buSzPts val="3200"/>
              <a:buNone/>
              <a:defRPr sz="3200">
                <a:solidFill>
                  <a:schemeClr val="dk2"/>
                </a:solidFill>
              </a:defRPr>
            </a:lvl6pPr>
            <a:lvl7pPr lvl="6" algn="ctr">
              <a:spcBef>
                <a:spcPts val="0"/>
              </a:spcBef>
              <a:spcAft>
                <a:spcPts val="0"/>
              </a:spcAft>
              <a:buClr>
                <a:schemeClr val="dk2"/>
              </a:buClr>
              <a:buSzPts val="3200"/>
              <a:buNone/>
              <a:defRPr sz="3200">
                <a:solidFill>
                  <a:schemeClr val="dk2"/>
                </a:solidFill>
              </a:defRPr>
            </a:lvl7pPr>
            <a:lvl8pPr lvl="7" algn="ctr">
              <a:spcBef>
                <a:spcPts val="0"/>
              </a:spcBef>
              <a:spcAft>
                <a:spcPts val="0"/>
              </a:spcAft>
              <a:buClr>
                <a:schemeClr val="dk2"/>
              </a:buClr>
              <a:buSzPts val="3200"/>
              <a:buNone/>
              <a:defRPr sz="3200">
                <a:solidFill>
                  <a:schemeClr val="dk2"/>
                </a:solidFill>
              </a:defRPr>
            </a:lvl8pPr>
            <a:lvl9pPr lvl="8" algn="ctr">
              <a:spcBef>
                <a:spcPts val="0"/>
              </a:spcBef>
              <a:spcAft>
                <a:spcPts val="0"/>
              </a:spcAft>
              <a:buClr>
                <a:schemeClr val="dk2"/>
              </a:buClr>
              <a:buSzPts val="3200"/>
              <a:buNone/>
              <a:defRPr sz="3200">
                <a:solidFill>
                  <a:schemeClr val="dk2"/>
                </a:solidFill>
              </a:defRPr>
            </a:lvl9pPr>
          </a:lstStyle>
          <a:p/>
        </p:txBody>
      </p:sp>
      <p:sp>
        <p:nvSpPr>
          <p:cNvPr id="48" name="Google Shape;48;p3"/>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bg>
      <p:bgPr>
        <a:solidFill>
          <a:schemeClr val="dk2"/>
        </a:solidFill>
      </p:bgPr>
    </p:bg>
    <p:spTree>
      <p:nvGrpSpPr>
        <p:cNvPr id="49" name="Shape 49"/>
        <p:cNvGrpSpPr/>
        <p:nvPr/>
      </p:nvGrpSpPr>
      <p:grpSpPr>
        <a:xfrm>
          <a:off x="0" y="0"/>
          <a:ext cx="0" cy="0"/>
          <a:chOff x="0" y="0"/>
          <a:chExt cx="0" cy="0"/>
        </a:xfrm>
      </p:grpSpPr>
      <p:sp>
        <p:nvSpPr>
          <p:cNvPr id="50" name="Google Shape;50;p4"/>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4"/>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4"/>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4"/>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54" name="Google Shape;54;p4"/>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5" name="Google Shape;55;p4"/>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chemeClr val="dk2"/>
        </a:solidFill>
      </p:bgPr>
    </p:bg>
    <p:spTree>
      <p:nvGrpSpPr>
        <p:cNvPr id="56" name="Shape 56"/>
        <p:cNvGrpSpPr/>
        <p:nvPr/>
      </p:nvGrpSpPr>
      <p:grpSpPr>
        <a:xfrm>
          <a:off x="0" y="0"/>
          <a:ext cx="0" cy="0"/>
          <a:chOff x="0" y="0"/>
          <a:chExt cx="0" cy="0"/>
        </a:xfrm>
      </p:grpSpPr>
      <p:sp>
        <p:nvSpPr>
          <p:cNvPr id="57" name="Google Shape;57;p5"/>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5"/>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5"/>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5"/>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61" name="Google Shape;61;p5"/>
          <p:cNvSpPr txBox="1"/>
          <p:nvPr>
            <p:ph idx="1" type="body"/>
          </p:nvPr>
        </p:nvSpPr>
        <p:spPr>
          <a:xfrm>
            <a:off x="819150" y="1990725"/>
            <a:ext cx="36861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2" name="Google Shape;62;p5"/>
          <p:cNvSpPr txBox="1"/>
          <p:nvPr>
            <p:ph idx="2" type="body"/>
          </p:nvPr>
        </p:nvSpPr>
        <p:spPr>
          <a:xfrm>
            <a:off x="4638675" y="1990725"/>
            <a:ext cx="36861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3" name="Google Shape;63;p5"/>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solidFill>
          <a:schemeClr val="dk2"/>
        </a:solidFill>
      </p:bgPr>
    </p:bg>
    <p:spTree>
      <p:nvGrpSpPr>
        <p:cNvPr id="64" name="Shape 64"/>
        <p:cNvGrpSpPr/>
        <p:nvPr/>
      </p:nvGrpSpPr>
      <p:grpSpPr>
        <a:xfrm>
          <a:off x="0" y="0"/>
          <a:ext cx="0" cy="0"/>
          <a:chOff x="0" y="0"/>
          <a:chExt cx="0" cy="0"/>
        </a:xfrm>
      </p:grpSpPr>
      <p:sp>
        <p:nvSpPr>
          <p:cNvPr id="65" name="Google Shape;65;p6"/>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6"/>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6"/>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6"/>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69" name="Google Shape;69;p6"/>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bg>
      <p:bgPr>
        <a:solidFill>
          <a:schemeClr val="accent3"/>
        </a:solidFill>
      </p:bgPr>
    </p:bg>
    <p:spTree>
      <p:nvGrpSpPr>
        <p:cNvPr id="70" name="Shape 70"/>
        <p:cNvGrpSpPr/>
        <p:nvPr/>
      </p:nvGrpSpPr>
      <p:grpSpPr>
        <a:xfrm>
          <a:off x="0" y="0"/>
          <a:ext cx="0" cy="0"/>
          <a:chOff x="0" y="0"/>
          <a:chExt cx="0" cy="0"/>
        </a:xfrm>
      </p:grpSpPr>
      <p:sp>
        <p:nvSpPr>
          <p:cNvPr id="71" name="Google Shape;71;p7"/>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7"/>
          <p:cNvSpPr/>
          <p:nvPr/>
        </p:nvSpPr>
        <p:spPr>
          <a:xfrm>
            <a:off x="31" y="2824500"/>
            <a:ext cx="7370400" cy="23190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7"/>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7"/>
          <p:cNvSpPr txBox="1"/>
          <p:nvPr>
            <p:ph type="title"/>
          </p:nvPr>
        </p:nvSpPr>
        <p:spPr>
          <a:xfrm>
            <a:off x="819150" y="845600"/>
            <a:ext cx="3709200" cy="13830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75" name="Google Shape;75;p7"/>
          <p:cNvSpPr txBox="1"/>
          <p:nvPr>
            <p:ph idx="1" type="body"/>
          </p:nvPr>
        </p:nvSpPr>
        <p:spPr>
          <a:xfrm>
            <a:off x="830700" y="2319050"/>
            <a:ext cx="3709200" cy="21198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76" name="Google Shape;76;p7"/>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1"/>
        </a:solidFill>
      </p:bgPr>
    </p:bg>
    <p:spTree>
      <p:nvGrpSpPr>
        <p:cNvPr id="77" name="Shape 77"/>
        <p:cNvGrpSpPr/>
        <p:nvPr/>
      </p:nvGrpSpPr>
      <p:grpSpPr>
        <a:xfrm>
          <a:off x="0" y="0"/>
          <a:ext cx="0" cy="0"/>
          <a:chOff x="0" y="0"/>
          <a:chExt cx="0" cy="0"/>
        </a:xfrm>
      </p:grpSpPr>
      <p:sp>
        <p:nvSpPr>
          <p:cNvPr id="78" name="Google Shape;78;p8"/>
          <p:cNvSpPr/>
          <p:nvPr/>
        </p:nvSpPr>
        <p:spPr>
          <a:xfrm>
            <a:off x="0" y="2823144"/>
            <a:ext cx="7369200" cy="23169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p:nvPr/>
        </p:nvSpPr>
        <p:spPr>
          <a:xfrm flipH="1">
            <a:off x="3583210" y="1554113"/>
            <a:ext cx="5560500" cy="35895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0" name="Google Shape;80;p8"/>
          <p:cNvGrpSpPr/>
          <p:nvPr/>
        </p:nvGrpSpPr>
        <p:grpSpPr>
          <a:xfrm>
            <a:off x="255991" y="-118"/>
            <a:ext cx="2251347" cy="1043408"/>
            <a:chOff x="3961956" y="4383950"/>
            <a:chExt cx="1160548" cy="548700"/>
          </a:xfrm>
        </p:grpSpPr>
        <p:sp>
          <p:nvSpPr>
            <p:cNvPr id="81" name="Google Shape;81;p8"/>
            <p:cNvSpPr/>
            <p:nvPr/>
          </p:nvSpPr>
          <p:spPr>
            <a:xfrm>
              <a:off x="4224904"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a:off x="4093430"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a:off x="3961956"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4" name="Google Shape;84;p8"/>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5" name="Google Shape;85;p8"/>
          <p:cNvGrpSpPr/>
          <p:nvPr/>
        </p:nvGrpSpPr>
        <p:grpSpPr>
          <a:xfrm>
            <a:off x="34934" y="4522125"/>
            <a:ext cx="1593306" cy="617072"/>
            <a:chOff x="6917201" y="0"/>
            <a:chExt cx="2227777" cy="863400"/>
          </a:xfrm>
        </p:grpSpPr>
        <p:sp>
          <p:nvSpPr>
            <p:cNvPr id="86" name="Google Shape;86;p8"/>
            <p:cNvSpPr/>
            <p:nvPr/>
          </p:nvSpPr>
          <p:spPr>
            <a:xfrm>
              <a:off x="7641677"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a:off x="7279439"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a:off x="6917201"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9" name="Google Shape;89;p8"/>
          <p:cNvGrpSpPr/>
          <p:nvPr/>
        </p:nvGrpSpPr>
        <p:grpSpPr>
          <a:xfrm>
            <a:off x="5886353" y="1243"/>
            <a:ext cx="3257455" cy="1261514"/>
            <a:chOff x="6917201" y="0"/>
            <a:chExt cx="2227777" cy="863400"/>
          </a:xfrm>
        </p:grpSpPr>
        <p:sp>
          <p:nvSpPr>
            <p:cNvPr id="90" name="Google Shape;90;p8"/>
            <p:cNvSpPr/>
            <p:nvPr/>
          </p:nvSpPr>
          <p:spPr>
            <a:xfrm>
              <a:off x="7641677"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8"/>
            <p:cNvSpPr/>
            <p:nvPr/>
          </p:nvSpPr>
          <p:spPr>
            <a:xfrm>
              <a:off x="7279439"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8"/>
            <p:cNvSpPr/>
            <p:nvPr/>
          </p:nvSpPr>
          <p:spPr>
            <a:xfrm>
              <a:off x="6917201"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3" name="Google Shape;93;p8"/>
          <p:cNvSpPr txBox="1"/>
          <p:nvPr>
            <p:ph type="title"/>
          </p:nvPr>
        </p:nvSpPr>
        <p:spPr>
          <a:xfrm>
            <a:off x="1393929" y="1301146"/>
            <a:ext cx="6366900" cy="25392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200"/>
              <a:buNone/>
              <a:defRPr sz="3200"/>
            </a:lvl1pPr>
            <a:lvl2pPr lvl="1" algn="ctr">
              <a:spcBef>
                <a:spcPts val="0"/>
              </a:spcBef>
              <a:spcAft>
                <a:spcPts val="0"/>
              </a:spcAft>
              <a:buSzPts val="3200"/>
              <a:buNone/>
              <a:defRPr sz="3200"/>
            </a:lvl2pPr>
            <a:lvl3pPr lvl="2" algn="ctr">
              <a:spcBef>
                <a:spcPts val="0"/>
              </a:spcBef>
              <a:spcAft>
                <a:spcPts val="0"/>
              </a:spcAft>
              <a:buSzPts val="3200"/>
              <a:buNone/>
              <a:defRPr sz="3200"/>
            </a:lvl3pPr>
            <a:lvl4pPr lvl="3" algn="ctr">
              <a:spcBef>
                <a:spcPts val="0"/>
              </a:spcBef>
              <a:spcAft>
                <a:spcPts val="0"/>
              </a:spcAft>
              <a:buSzPts val="3200"/>
              <a:buNone/>
              <a:defRPr sz="3200"/>
            </a:lvl4pPr>
            <a:lvl5pPr lvl="4" algn="ctr">
              <a:spcBef>
                <a:spcPts val="0"/>
              </a:spcBef>
              <a:spcAft>
                <a:spcPts val="0"/>
              </a:spcAft>
              <a:buSzPts val="3200"/>
              <a:buNone/>
              <a:defRPr sz="3200"/>
            </a:lvl5pPr>
            <a:lvl6pPr lvl="5" algn="ctr">
              <a:spcBef>
                <a:spcPts val="0"/>
              </a:spcBef>
              <a:spcAft>
                <a:spcPts val="0"/>
              </a:spcAft>
              <a:buSzPts val="3200"/>
              <a:buNone/>
              <a:defRPr sz="3200"/>
            </a:lvl6pPr>
            <a:lvl7pPr lvl="6" algn="ctr">
              <a:spcBef>
                <a:spcPts val="0"/>
              </a:spcBef>
              <a:spcAft>
                <a:spcPts val="0"/>
              </a:spcAft>
              <a:buSzPts val="3200"/>
              <a:buNone/>
              <a:defRPr sz="3200"/>
            </a:lvl7pPr>
            <a:lvl8pPr lvl="7" algn="ctr">
              <a:spcBef>
                <a:spcPts val="0"/>
              </a:spcBef>
              <a:spcAft>
                <a:spcPts val="0"/>
              </a:spcAft>
              <a:buSzPts val="3200"/>
              <a:buNone/>
              <a:defRPr sz="3200"/>
            </a:lvl8pPr>
            <a:lvl9pPr lvl="8" algn="ctr">
              <a:spcBef>
                <a:spcPts val="0"/>
              </a:spcBef>
              <a:spcAft>
                <a:spcPts val="0"/>
              </a:spcAft>
              <a:buSzPts val="3200"/>
              <a:buNone/>
              <a:defRPr sz="3200"/>
            </a:lvl9pPr>
          </a:lstStyle>
          <a:p/>
        </p:txBody>
      </p:sp>
      <p:sp>
        <p:nvSpPr>
          <p:cNvPr id="94" name="Google Shape;94;p8"/>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bg>
      <p:bgPr>
        <a:solidFill>
          <a:schemeClr val="dk2"/>
        </a:solidFill>
      </p:bgPr>
    </p:bg>
    <p:spTree>
      <p:nvGrpSpPr>
        <p:cNvPr id="95" name="Shape 95"/>
        <p:cNvGrpSpPr/>
        <p:nvPr/>
      </p:nvGrpSpPr>
      <p:grpSpPr>
        <a:xfrm>
          <a:off x="0" y="0"/>
          <a:ext cx="0" cy="0"/>
          <a:chOff x="0" y="0"/>
          <a:chExt cx="0" cy="0"/>
        </a:xfrm>
      </p:grpSpPr>
      <p:sp>
        <p:nvSpPr>
          <p:cNvPr id="96" name="Google Shape;96;p9"/>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9"/>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9"/>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9"/>
          <p:cNvSpPr txBox="1"/>
          <p:nvPr>
            <p:ph type="title"/>
          </p:nvPr>
        </p:nvSpPr>
        <p:spPr>
          <a:xfrm>
            <a:off x="819150" y="845600"/>
            <a:ext cx="6424200" cy="7050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100" name="Google Shape;100;p9"/>
          <p:cNvSpPr txBox="1"/>
          <p:nvPr>
            <p:ph idx="1" type="subTitle"/>
          </p:nvPr>
        </p:nvSpPr>
        <p:spPr>
          <a:xfrm>
            <a:off x="819150" y="1550700"/>
            <a:ext cx="5859900" cy="3936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600"/>
              <a:buNone/>
              <a:defRPr sz="1600">
                <a:solidFill>
                  <a:schemeClr val="lt1"/>
                </a:solidFill>
              </a:defRPr>
            </a:lvl1pPr>
            <a:lvl2pPr lvl="1">
              <a:lnSpc>
                <a:spcPct val="100000"/>
              </a:lnSpc>
              <a:spcBef>
                <a:spcPts val="0"/>
              </a:spcBef>
              <a:spcAft>
                <a:spcPts val="0"/>
              </a:spcAft>
              <a:buClr>
                <a:schemeClr val="lt1"/>
              </a:buClr>
              <a:buSzPts val="1600"/>
              <a:buNone/>
              <a:defRPr sz="1600">
                <a:solidFill>
                  <a:schemeClr val="lt1"/>
                </a:solidFill>
              </a:defRPr>
            </a:lvl2pPr>
            <a:lvl3pPr lvl="2">
              <a:lnSpc>
                <a:spcPct val="100000"/>
              </a:lnSpc>
              <a:spcBef>
                <a:spcPts val="0"/>
              </a:spcBef>
              <a:spcAft>
                <a:spcPts val="0"/>
              </a:spcAft>
              <a:buClr>
                <a:schemeClr val="lt1"/>
              </a:buClr>
              <a:buSzPts val="1600"/>
              <a:buNone/>
              <a:defRPr sz="1600">
                <a:solidFill>
                  <a:schemeClr val="lt1"/>
                </a:solidFill>
              </a:defRPr>
            </a:lvl3pPr>
            <a:lvl4pPr lvl="3">
              <a:lnSpc>
                <a:spcPct val="100000"/>
              </a:lnSpc>
              <a:spcBef>
                <a:spcPts val="0"/>
              </a:spcBef>
              <a:spcAft>
                <a:spcPts val="0"/>
              </a:spcAft>
              <a:buClr>
                <a:schemeClr val="lt1"/>
              </a:buClr>
              <a:buSzPts val="1600"/>
              <a:buNone/>
              <a:defRPr sz="1600">
                <a:solidFill>
                  <a:schemeClr val="lt1"/>
                </a:solidFill>
              </a:defRPr>
            </a:lvl4pPr>
            <a:lvl5pPr lvl="4">
              <a:lnSpc>
                <a:spcPct val="100000"/>
              </a:lnSpc>
              <a:spcBef>
                <a:spcPts val="0"/>
              </a:spcBef>
              <a:spcAft>
                <a:spcPts val="0"/>
              </a:spcAft>
              <a:buClr>
                <a:schemeClr val="lt1"/>
              </a:buClr>
              <a:buSzPts val="1600"/>
              <a:buNone/>
              <a:defRPr sz="1600">
                <a:solidFill>
                  <a:schemeClr val="lt1"/>
                </a:solidFill>
              </a:defRPr>
            </a:lvl5pPr>
            <a:lvl6pPr lvl="5">
              <a:lnSpc>
                <a:spcPct val="100000"/>
              </a:lnSpc>
              <a:spcBef>
                <a:spcPts val="0"/>
              </a:spcBef>
              <a:spcAft>
                <a:spcPts val="0"/>
              </a:spcAft>
              <a:buClr>
                <a:schemeClr val="lt1"/>
              </a:buClr>
              <a:buSzPts val="1600"/>
              <a:buNone/>
              <a:defRPr sz="1600">
                <a:solidFill>
                  <a:schemeClr val="lt1"/>
                </a:solidFill>
              </a:defRPr>
            </a:lvl6pPr>
            <a:lvl7pPr lvl="6">
              <a:lnSpc>
                <a:spcPct val="100000"/>
              </a:lnSpc>
              <a:spcBef>
                <a:spcPts val="0"/>
              </a:spcBef>
              <a:spcAft>
                <a:spcPts val="0"/>
              </a:spcAft>
              <a:buClr>
                <a:schemeClr val="lt1"/>
              </a:buClr>
              <a:buSzPts val="1600"/>
              <a:buNone/>
              <a:defRPr sz="1600">
                <a:solidFill>
                  <a:schemeClr val="lt1"/>
                </a:solidFill>
              </a:defRPr>
            </a:lvl7pPr>
            <a:lvl8pPr lvl="7">
              <a:lnSpc>
                <a:spcPct val="100000"/>
              </a:lnSpc>
              <a:spcBef>
                <a:spcPts val="0"/>
              </a:spcBef>
              <a:spcAft>
                <a:spcPts val="0"/>
              </a:spcAft>
              <a:buClr>
                <a:schemeClr val="lt1"/>
              </a:buClr>
              <a:buSzPts val="1600"/>
              <a:buNone/>
              <a:defRPr sz="1600">
                <a:solidFill>
                  <a:schemeClr val="lt1"/>
                </a:solidFill>
              </a:defRPr>
            </a:lvl8pPr>
            <a:lvl9pPr lvl="8">
              <a:lnSpc>
                <a:spcPct val="100000"/>
              </a:lnSpc>
              <a:spcBef>
                <a:spcPts val="0"/>
              </a:spcBef>
              <a:spcAft>
                <a:spcPts val="0"/>
              </a:spcAft>
              <a:buClr>
                <a:schemeClr val="lt1"/>
              </a:buClr>
              <a:buSzPts val="1600"/>
              <a:buNone/>
              <a:defRPr sz="1600">
                <a:solidFill>
                  <a:schemeClr val="lt1"/>
                </a:solidFill>
              </a:defRPr>
            </a:lvl9pPr>
          </a:lstStyle>
          <a:p/>
        </p:txBody>
      </p:sp>
      <p:sp>
        <p:nvSpPr>
          <p:cNvPr id="101" name="Google Shape;101;p9"/>
          <p:cNvSpPr txBox="1"/>
          <p:nvPr>
            <p:ph idx="2" type="body"/>
          </p:nvPr>
        </p:nvSpPr>
        <p:spPr>
          <a:xfrm>
            <a:off x="819150" y="2467050"/>
            <a:ext cx="5859900" cy="209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02" name="Google Shape;102;p9"/>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bg>
      <p:bgPr>
        <a:solidFill>
          <a:schemeClr val="accent1"/>
        </a:solidFill>
      </p:bgPr>
    </p:bg>
    <p:spTree>
      <p:nvGrpSpPr>
        <p:cNvPr id="103" name="Shape 103"/>
        <p:cNvGrpSpPr/>
        <p:nvPr/>
      </p:nvGrpSpPr>
      <p:grpSpPr>
        <a:xfrm>
          <a:off x="0" y="0"/>
          <a:ext cx="0" cy="0"/>
          <a:chOff x="0" y="0"/>
          <a:chExt cx="0" cy="0"/>
        </a:xfrm>
      </p:grpSpPr>
      <p:sp>
        <p:nvSpPr>
          <p:cNvPr id="104" name="Google Shape;104;p10"/>
          <p:cNvSpPr/>
          <p:nvPr/>
        </p:nvSpPr>
        <p:spPr>
          <a:xfrm>
            <a:off x="31" y="2824500"/>
            <a:ext cx="7370400" cy="23190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10"/>
          <p:cNvSpPr/>
          <p:nvPr/>
        </p:nvSpPr>
        <p:spPr>
          <a:xfrm flipH="1">
            <a:off x="3582600" y="1550700"/>
            <a:ext cx="5561400" cy="35928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10"/>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10"/>
          <p:cNvSpPr txBox="1"/>
          <p:nvPr>
            <p:ph idx="1" type="body"/>
          </p:nvPr>
        </p:nvSpPr>
        <p:spPr>
          <a:xfrm>
            <a:off x="328025" y="4163500"/>
            <a:ext cx="7415100" cy="605100"/>
          </a:xfrm>
          <a:prstGeom prst="rect">
            <a:avLst/>
          </a:prstGeom>
        </p:spPr>
        <p:txBody>
          <a:bodyPr anchorCtr="0" anchor="b"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08" name="Google Shape;108;p10"/>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3"/>
        </a:solidFill>
      </p:bgPr>
    </p:bg>
    <p:spTree>
      <p:nvGrpSpPr>
        <p:cNvPr id="109" name="Shape 109"/>
        <p:cNvGrpSpPr/>
        <p:nvPr/>
      </p:nvGrpSpPr>
      <p:grpSpPr>
        <a:xfrm>
          <a:off x="0" y="0"/>
          <a:ext cx="0" cy="0"/>
          <a:chOff x="0" y="0"/>
          <a:chExt cx="0" cy="0"/>
        </a:xfrm>
      </p:grpSpPr>
      <p:sp>
        <p:nvSpPr>
          <p:cNvPr id="110" name="Google Shape;110;p11"/>
          <p:cNvSpPr/>
          <p:nvPr/>
        </p:nvSpPr>
        <p:spPr>
          <a:xfrm flipH="1">
            <a:off x="5569200" y="2834075"/>
            <a:ext cx="3574800" cy="23094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1" name="Google Shape;111;p11"/>
          <p:cNvGrpSpPr/>
          <p:nvPr/>
        </p:nvGrpSpPr>
        <p:grpSpPr>
          <a:xfrm>
            <a:off x="5959222" y="4119576"/>
            <a:ext cx="2520952" cy="1024165"/>
            <a:chOff x="6917201" y="0"/>
            <a:chExt cx="2227777" cy="863400"/>
          </a:xfrm>
        </p:grpSpPr>
        <p:sp>
          <p:nvSpPr>
            <p:cNvPr id="112" name="Google Shape;112;p11"/>
            <p:cNvSpPr/>
            <p:nvPr/>
          </p:nvSpPr>
          <p:spPr>
            <a:xfrm>
              <a:off x="7641677"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1"/>
            <p:cNvSpPr/>
            <p:nvPr/>
          </p:nvSpPr>
          <p:spPr>
            <a:xfrm>
              <a:off x="7279439"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1"/>
            <p:cNvSpPr/>
            <p:nvPr/>
          </p:nvSpPr>
          <p:spPr>
            <a:xfrm>
              <a:off x="6917201"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5" name="Google Shape;115;p11"/>
          <p:cNvGrpSpPr/>
          <p:nvPr/>
        </p:nvGrpSpPr>
        <p:grpSpPr>
          <a:xfrm>
            <a:off x="199149" y="2"/>
            <a:ext cx="2795414" cy="1083308"/>
            <a:chOff x="6917201" y="0"/>
            <a:chExt cx="2227777" cy="863400"/>
          </a:xfrm>
        </p:grpSpPr>
        <p:sp>
          <p:nvSpPr>
            <p:cNvPr id="116" name="Google Shape;116;p11"/>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1"/>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9" name="Google Shape;119;p11"/>
          <p:cNvSpPr txBox="1"/>
          <p:nvPr>
            <p:ph hasCustomPrompt="1" type="title"/>
          </p:nvPr>
        </p:nvSpPr>
        <p:spPr>
          <a:xfrm>
            <a:off x="1385850" y="1383850"/>
            <a:ext cx="6372300" cy="13797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2"/>
              </a:buClr>
              <a:buSzPts val="8600"/>
              <a:buNone/>
              <a:defRPr sz="8600">
                <a:solidFill>
                  <a:schemeClr val="dk2"/>
                </a:solidFill>
              </a:defRPr>
            </a:lvl1pPr>
            <a:lvl2pPr lvl="1" algn="ctr">
              <a:spcBef>
                <a:spcPts val="0"/>
              </a:spcBef>
              <a:spcAft>
                <a:spcPts val="0"/>
              </a:spcAft>
              <a:buClr>
                <a:schemeClr val="dk2"/>
              </a:buClr>
              <a:buSzPts val="8600"/>
              <a:buNone/>
              <a:defRPr sz="8600">
                <a:solidFill>
                  <a:schemeClr val="dk2"/>
                </a:solidFill>
              </a:defRPr>
            </a:lvl2pPr>
            <a:lvl3pPr lvl="2" algn="ctr">
              <a:spcBef>
                <a:spcPts val="0"/>
              </a:spcBef>
              <a:spcAft>
                <a:spcPts val="0"/>
              </a:spcAft>
              <a:buClr>
                <a:schemeClr val="dk2"/>
              </a:buClr>
              <a:buSzPts val="8600"/>
              <a:buNone/>
              <a:defRPr sz="8600">
                <a:solidFill>
                  <a:schemeClr val="dk2"/>
                </a:solidFill>
              </a:defRPr>
            </a:lvl3pPr>
            <a:lvl4pPr lvl="3" algn="ctr">
              <a:spcBef>
                <a:spcPts val="0"/>
              </a:spcBef>
              <a:spcAft>
                <a:spcPts val="0"/>
              </a:spcAft>
              <a:buClr>
                <a:schemeClr val="dk2"/>
              </a:buClr>
              <a:buSzPts val="8600"/>
              <a:buNone/>
              <a:defRPr sz="8600">
                <a:solidFill>
                  <a:schemeClr val="dk2"/>
                </a:solidFill>
              </a:defRPr>
            </a:lvl4pPr>
            <a:lvl5pPr lvl="4" algn="ctr">
              <a:spcBef>
                <a:spcPts val="0"/>
              </a:spcBef>
              <a:spcAft>
                <a:spcPts val="0"/>
              </a:spcAft>
              <a:buClr>
                <a:schemeClr val="dk2"/>
              </a:buClr>
              <a:buSzPts val="8600"/>
              <a:buNone/>
              <a:defRPr sz="8600">
                <a:solidFill>
                  <a:schemeClr val="dk2"/>
                </a:solidFill>
              </a:defRPr>
            </a:lvl5pPr>
            <a:lvl6pPr lvl="5" algn="ctr">
              <a:spcBef>
                <a:spcPts val="0"/>
              </a:spcBef>
              <a:spcAft>
                <a:spcPts val="0"/>
              </a:spcAft>
              <a:buClr>
                <a:schemeClr val="dk2"/>
              </a:buClr>
              <a:buSzPts val="8600"/>
              <a:buNone/>
              <a:defRPr sz="8600">
                <a:solidFill>
                  <a:schemeClr val="dk2"/>
                </a:solidFill>
              </a:defRPr>
            </a:lvl6pPr>
            <a:lvl7pPr lvl="6" algn="ctr">
              <a:spcBef>
                <a:spcPts val="0"/>
              </a:spcBef>
              <a:spcAft>
                <a:spcPts val="0"/>
              </a:spcAft>
              <a:buClr>
                <a:schemeClr val="dk2"/>
              </a:buClr>
              <a:buSzPts val="8600"/>
              <a:buNone/>
              <a:defRPr sz="8600">
                <a:solidFill>
                  <a:schemeClr val="dk2"/>
                </a:solidFill>
              </a:defRPr>
            </a:lvl7pPr>
            <a:lvl8pPr lvl="7" algn="ctr">
              <a:spcBef>
                <a:spcPts val="0"/>
              </a:spcBef>
              <a:spcAft>
                <a:spcPts val="0"/>
              </a:spcAft>
              <a:buClr>
                <a:schemeClr val="dk2"/>
              </a:buClr>
              <a:buSzPts val="8600"/>
              <a:buNone/>
              <a:defRPr sz="8600">
                <a:solidFill>
                  <a:schemeClr val="dk2"/>
                </a:solidFill>
              </a:defRPr>
            </a:lvl8pPr>
            <a:lvl9pPr lvl="8" algn="ctr">
              <a:spcBef>
                <a:spcPts val="0"/>
              </a:spcBef>
              <a:spcAft>
                <a:spcPts val="0"/>
              </a:spcAft>
              <a:buClr>
                <a:schemeClr val="dk2"/>
              </a:buClr>
              <a:buSzPts val="8600"/>
              <a:buNone/>
              <a:defRPr sz="8600">
                <a:solidFill>
                  <a:schemeClr val="dk2"/>
                </a:solidFill>
              </a:defRPr>
            </a:lvl9pPr>
          </a:lstStyle>
          <a:p>
            <a:r>
              <a:t>xx%</a:t>
            </a:r>
          </a:p>
        </p:txBody>
      </p:sp>
      <p:sp>
        <p:nvSpPr>
          <p:cNvPr id="120" name="Google Shape;120;p11"/>
          <p:cNvSpPr txBox="1"/>
          <p:nvPr>
            <p:ph idx="1" type="body"/>
          </p:nvPr>
        </p:nvSpPr>
        <p:spPr>
          <a:xfrm>
            <a:off x="1385850" y="2863850"/>
            <a:ext cx="6372300" cy="641100"/>
          </a:xfrm>
          <a:prstGeom prst="rect">
            <a:avLst/>
          </a:prstGeom>
        </p:spPr>
        <p:txBody>
          <a:bodyPr anchorCtr="0" anchor="t" bIns="91425" lIns="91425" spcFirstLastPara="1" rIns="91425" wrap="square" tIns="91425">
            <a:normAutofit/>
          </a:bodyPr>
          <a:lstStyle>
            <a:lvl1pPr indent="-311150" lvl="0" marL="457200" algn="ctr">
              <a:spcBef>
                <a:spcPts val="0"/>
              </a:spcBef>
              <a:spcAft>
                <a:spcPts val="0"/>
              </a:spcAft>
              <a:buSzPts val="1300"/>
              <a:buChar char="●"/>
              <a:defRPr/>
            </a:lvl1pPr>
            <a:lvl2pPr indent="-298450" lvl="1" marL="914400" algn="ctr">
              <a:spcBef>
                <a:spcPts val="0"/>
              </a:spcBef>
              <a:spcAft>
                <a:spcPts val="0"/>
              </a:spcAft>
              <a:buSzPts val="1100"/>
              <a:buChar char="○"/>
              <a:defRPr/>
            </a:lvl2pPr>
            <a:lvl3pPr indent="-298450" lvl="2" marL="1371600" algn="ctr">
              <a:spcBef>
                <a:spcPts val="0"/>
              </a:spcBef>
              <a:spcAft>
                <a:spcPts val="0"/>
              </a:spcAft>
              <a:buSzPts val="1100"/>
              <a:buChar char="■"/>
              <a:defRPr/>
            </a:lvl3pPr>
            <a:lvl4pPr indent="-298450" lvl="3" marL="1828800" algn="ctr">
              <a:spcBef>
                <a:spcPts val="0"/>
              </a:spcBef>
              <a:spcAft>
                <a:spcPts val="0"/>
              </a:spcAft>
              <a:buSzPts val="1100"/>
              <a:buChar char="●"/>
              <a:defRPr/>
            </a:lvl4pPr>
            <a:lvl5pPr indent="-298450" lvl="4" marL="2286000" algn="ctr">
              <a:spcBef>
                <a:spcPts val="0"/>
              </a:spcBef>
              <a:spcAft>
                <a:spcPts val="0"/>
              </a:spcAft>
              <a:buSzPts val="1100"/>
              <a:buChar char="○"/>
              <a:defRPr/>
            </a:lvl5pPr>
            <a:lvl6pPr indent="-298450" lvl="5" marL="2743200" algn="ctr">
              <a:spcBef>
                <a:spcPts val="0"/>
              </a:spcBef>
              <a:spcAft>
                <a:spcPts val="0"/>
              </a:spcAft>
              <a:buSzPts val="1100"/>
              <a:buChar char="■"/>
              <a:defRPr/>
            </a:lvl6pPr>
            <a:lvl7pPr indent="-298450" lvl="6" marL="3200400" algn="ctr">
              <a:spcBef>
                <a:spcPts val="0"/>
              </a:spcBef>
              <a:spcAft>
                <a:spcPts val="0"/>
              </a:spcAft>
              <a:buSzPts val="1100"/>
              <a:buChar char="●"/>
              <a:defRPr/>
            </a:lvl7pPr>
            <a:lvl8pPr indent="-298450" lvl="7" marL="3657600" algn="ctr">
              <a:spcBef>
                <a:spcPts val="0"/>
              </a:spcBef>
              <a:spcAft>
                <a:spcPts val="0"/>
              </a:spcAft>
              <a:buSzPts val="1100"/>
              <a:buChar char="○"/>
              <a:defRPr/>
            </a:lvl8pPr>
            <a:lvl9pPr indent="-298450" lvl="8" marL="4114800" algn="ctr">
              <a:spcBef>
                <a:spcPts val="0"/>
              </a:spcBef>
              <a:spcAft>
                <a:spcPts val="0"/>
              </a:spcAft>
              <a:buSzPts val="1100"/>
              <a:buChar char="■"/>
              <a:defRPr/>
            </a:lvl9pPr>
          </a:lstStyle>
          <a:p/>
        </p:txBody>
      </p:sp>
      <p:sp>
        <p:nvSpPr>
          <p:cNvPr id="121" name="Google Shape;121;p11"/>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2" name="Shape 122"/>
        <p:cNvGrpSpPr/>
        <p:nvPr/>
      </p:nvGrpSpPr>
      <p:grpSpPr>
        <a:xfrm>
          <a:off x="0" y="0"/>
          <a:ext cx="0" cy="0"/>
          <a:chOff x="0" y="0"/>
          <a:chExt cx="0" cy="0"/>
        </a:xfrm>
      </p:grpSpPr>
      <p:sp>
        <p:nvSpPr>
          <p:cNvPr id="123" name="Google Shape;123;p12"/>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hift">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1pPr>
            <a:lvl2pPr lvl="1">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2pPr>
            <a:lvl3pPr lvl="2">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3pPr>
            <a:lvl4pPr lvl="3">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4pPr>
            <a:lvl5pPr lvl="4">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5pPr>
            <a:lvl6pPr lvl="5">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6pPr>
            <a:lvl7pPr lvl="6">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7pPr>
            <a:lvl8pPr lvl="7">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8pPr>
            <a:lvl9pPr lvl="8">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9pPr>
          </a:lstStyle>
          <a:p/>
        </p:txBody>
      </p:sp>
      <p:sp>
        <p:nvSpPr>
          <p:cNvPr id="7" name="Google Shape;7;p1"/>
          <p:cNvSpPr txBox="1"/>
          <p:nvPr>
            <p:ph idx="1" type="body"/>
          </p:nvPr>
        </p:nvSpPr>
        <p:spPr>
          <a:xfrm>
            <a:off x="311700" y="1152475"/>
            <a:ext cx="8520600" cy="33912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dk2"/>
              </a:buClr>
              <a:buSzPts val="1300"/>
              <a:buFont typeface="Calibri"/>
              <a:buChar char="●"/>
              <a:defRPr sz="1300">
                <a:solidFill>
                  <a:schemeClr val="dk2"/>
                </a:solidFill>
                <a:latin typeface="Calibri"/>
                <a:ea typeface="Calibri"/>
                <a:cs typeface="Calibri"/>
                <a:sym typeface="Calibri"/>
              </a:defRPr>
            </a:lvl1pPr>
            <a:lvl2pPr indent="-298450" lvl="1" marL="9144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2pPr>
            <a:lvl3pPr indent="-298450" lvl="2" marL="13716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3pPr>
            <a:lvl4pPr indent="-298450" lvl="3" marL="18288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4pPr>
            <a:lvl5pPr indent="-298450" lvl="4" marL="22860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5pPr>
            <a:lvl6pPr indent="-298450" lvl="5" marL="27432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6pPr>
            <a:lvl7pPr indent="-298450" lvl="6" marL="32004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7pPr>
            <a:lvl8pPr indent="-298450" lvl="7" marL="36576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8pPr>
            <a:lvl9pPr indent="-298450" lvl="8" marL="41148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9pPr>
          </a:lstStyle>
          <a:p/>
        </p:txBody>
      </p:sp>
      <p:sp>
        <p:nvSpPr>
          <p:cNvPr id="8" name="Google Shape;8;p1"/>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Nunito"/>
                <a:ea typeface="Nunito"/>
                <a:cs typeface="Nunito"/>
                <a:sym typeface="Nunito"/>
              </a:defRPr>
            </a:lvl1pPr>
            <a:lvl2pPr lvl="1" algn="r">
              <a:buNone/>
              <a:defRPr sz="1000">
                <a:solidFill>
                  <a:schemeClr val="dk2"/>
                </a:solidFill>
                <a:latin typeface="Nunito"/>
                <a:ea typeface="Nunito"/>
                <a:cs typeface="Nunito"/>
                <a:sym typeface="Nunito"/>
              </a:defRPr>
            </a:lvl2pPr>
            <a:lvl3pPr lvl="2" algn="r">
              <a:buNone/>
              <a:defRPr sz="1000">
                <a:solidFill>
                  <a:schemeClr val="dk2"/>
                </a:solidFill>
                <a:latin typeface="Nunito"/>
                <a:ea typeface="Nunito"/>
                <a:cs typeface="Nunito"/>
                <a:sym typeface="Nunito"/>
              </a:defRPr>
            </a:lvl3pPr>
            <a:lvl4pPr lvl="3" algn="r">
              <a:buNone/>
              <a:defRPr sz="1000">
                <a:solidFill>
                  <a:schemeClr val="dk2"/>
                </a:solidFill>
                <a:latin typeface="Nunito"/>
                <a:ea typeface="Nunito"/>
                <a:cs typeface="Nunito"/>
                <a:sym typeface="Nunito"/>
              </a:defRPr>
            </a:lvl4pPr>
            <a:lvl5pPr lvl="4" algn="r">
              <a:buNone/>
              <a:defRPr sz="1000">
                <a:solidFill>
                  <a:schemeClr val="dk2"/>
                </a:solidFill>
                <a:latin typeface="Nunito"/>
                <a:ea typeface="Nunito"/>
                <a:cs typeface="Nunito"/>
                <a:sym typeface="Nunito"/>
              </a:defRPr>
            </a:lvl5pPr>
            <a:lvl6pPr lvl="5" algn="r">
              <a:buNone/>
              <a:defRPr sz="1000">
                <a:solidFill>
                  <a:schemeClr val="dk2"/>
                </a:solidFill>
                <a:latin typeface="Nunito"/>
                <a:ea typeface="Nunito"/>
                <a:cs typeface="Nunito"/>
                <a:sym typeface="Nunito"/>
              </a:defRPr>
            </a:lvl6pPr>
            <a:lvl7pPr lvl="6" algn="r">
              <a:buNone/>
              <a:defRPr sz="1000">
                <a:solidFill>
                  <a:schemeClr val="dk2"/>
                </a:solidFill>
                <a:latin typeface="Nunito"/>
                <a:ea typeface="Nunito"/>
                <a:cs typeface="Nunito"/>
                <a:sym typeface="Nunito"/>
              </a:defRPr>
            </a:lvl7pPr>
            <a:lvl8pPr lvl="7" algn="r">
              <a:buNone/>
              <a:defRPr sz="1000">
                <a:solidFill>
                  <a:schemeClr val="dk2"/>
                </a:solidFill>
                <a:latin typeface="Nunito"/>
                <a:ea typeface="Nunito"/>
                <a:cs typeface="Nunito"/>
                <a:sym typeface="Nunito"/>
              </a:defRPr>
            </a:lvl8pPr>
            <a:lvl9pPr lvl="8" algn="r">
              <a:buNone/>
              <a:defRPr sz="1000">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40.png"/><Relationship Id="rId4" Type="http://schemas.openxmlformats.org/officeDocument/2006/relationships/image" Target="../media/image43.png"/><Relationship Id="rId9" Type="http://schemas.openxmlformats.org/officeDocument/2006/relationships/image" Target="../media/image32.png"/><Relationship Id="rId5" Type="http://schemas.openxmlformats.org/officeDocument/2006/relationships/image" Target="../media/image37.png"/><Relationship Id="rId6" Type="http://schemas.openxmlformats.org/officeDocument/2006/relationships/image" Target="../media/image35.png"/><Relationship Id="rId7" Type="http://schemas.openxmlformats.org/officeDocument/2006/relationships/image" Target="../media/image38.png"/><Relationship Id="rId8" Type="http://schemas.openxmlformats.org/officeDocument/2006/relationships/image" Target="../media/image3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41.jpg"/><Relationship Id="rId4" Type="http://schemas.openxmlformats.org/officeDocument/2006/relationships/image" Target="../media/image39.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33.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2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1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12.png"/><Relationship Id="rId4" Type="http://schemas.openxmlformats.org/officeDocument/2006/relationships/image" Target="../media/image11.png"/><Relationship Id="rId11" Type="http://schemas.openxmlformats.org/officeDocument/2006/relationships/image" Target="../media/image19.png"/><Relationship Id="rId10" Type="http://schemas.openxmlformats.org/officeDocument/2006/relationships/image" Target="../media/image17.png"/><Relationship Id="rId9" Type="http://schemas.openxmlformats.org/officeDocument/2006/relationships/image" Target="../media/image21.png"/><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image" Target="../media/image13.png"/><Relationship Id="rId8" Type="http://schemas.openxmlformats.org/officeDocument/2006/relationships/image" Target="../media/image1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1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42.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2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2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2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2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30.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29.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26.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28.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3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44.jp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27.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45.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hyperlink" Target="https://github.com/htmw/F2025-Async/wiki"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13"/>
          <p:cNvSpPr txBox="1"/>
          <p:nvPr>
            <p:ph type="ctrTitle"/>
          </p:nvPr>
        </p:nvSpPr>
        <p:spPr>
          <a:xfrm>
            <a:off x="1359900" y="1500050"/>
            <a:ext cx="6424200" cy="1448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4700">
                <a:solidFill>
                  <a:srgbClr val="000000"/>
                </a:solidFill>
                <a:latin typeface="Calibri"/>
                <a:ea typeface="Calibri"/>
                <a:cs typeface="Calibri"/>
                <a:sym typeface="Calibri"/>
              </a:rPr>
              <a:t>Curated For You By You</a:t>
            </a:r>
            <a:endParaRPr sz="4700">
              <a:solidFill>
                <a:srgbClr val="000000"/>
              </a:solidFill>
              <a:latin typeface="Calibri"/>
              <a:ea typeface="Calibri"/>
              <a:cs typeface="Calibri"/>
              <a:sym typeface="Calibri"/>
            </a:endParaRPr>
          </a:p>
        </p:txBody>
      </p:sp>
      <p:sp>
        <p:nvSpPr>
          <p:cNvPr id="129" name="Google Shape;129;p13"/>
          <p:cNvSpPr txBox="1"/>
          <p:nvPr>
            <p:ph idx="1" type="subTitle"/>
          </p:nvPr>
        </p:nvSpPr>
        <p:spPr>
          <a:xfrm>
            <a:off x="1891350" y="2809258"/>
            <a:ext cx="5361300" cy="52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sz="1800">
                <a:solidFill>
                  <a:schemeClr val="dk2"/>
                </a:solidFill>
              </a:rPr>
              <a:t>Team : Cache Me If You Can</a:t>
            </a:r>
            <a:endParaRPr sz="1800">
              <a:solidFill>
                <a:schemeClr val="dk2"/>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14"/>
          <p:cNvSpPr txBox="1"/>
          <p:nvPr>
            <p:ph type="title"/>
          </p:nvPr>
        </p:nvSpPr>
        <p:spPr>
          <a:xfrm>
            <a:off x="819150" y="5020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3300">
                <a:latin typeface="Calibri"/>
                <a:ea typeface="Calibri"/>
                <a:cs typeface="Calibri"/>
                <a:sym typeface="Calibri"/>
              </a:rPr>
              <a:t>Agenda</a:t>
            </a:r>
            <a:endParaRPr sz="3300">
              <a:latin typeface="Calibri"/>
              <a:ea typeface="Calibri"/>
              <a:cs typeface="Calibri"/>
              <a:sym typeface="Calibri"/>
            </a:endParaRPr>
          </a:p>
        </p:txBody>
      </p:sp>
      <p:sp>
        <p:nvSpPr>
          <p:cNvPr id="135" name="Google Shape;135;p14"/>
          <p:cNvSpPr txBox="1"/>
          <p:nvPr>
            <p:ph idx="1" type="body"/>
          </p:nvPr>
        </p:nvSpPr>
        <p:spPr>
          <a:xfrm>
            <a:off x="819150" y="1103575"/>
            <a:ext cx="7505700" cy="3581700"/>
          </a:xfrm>
          <a:prstGeom prst="rect">
            <a:avLst/>
          </a:prstGeom>
        </p:spPr>
        <p:txBody>
          <a:bodyPr anchorCtr="0" anchor="t" bIns="91425" lIns="91425" spcFirstLastPara="1" rIns="91425" wrap="square" tIns="91425">
            <a:noAutofit/>
          </a:bodyPr>
          <a:lstStyle/>
          <a:p>
            <a:pPr indent="-303847" lvl="0" marL="457200" rtl="0" algn="l">
              <a:lnSpc>
                <a:spcPct val="95000"/>
              </a:lnSpc>
              <a:spcBef>
                <a:spcPts val="0"/>
              </a:spcBef>
              <a:spcAft>
                <a:spcPts val="0"/>
              </a:spcAft>
              <a:buClr>
                <a:srgbClr val="000000"/>
              </a:buClr>
              <a:buSzPts val="1185"/>
              <a:buChar char="●"/>
            </a:pPr>
            <a:r>
              <a:rPr lang="en" sz="1185">
                <a:solidFill>
                  <a:srgbClr val="000000"/>
                </a:solidFill>
              </a:rPr>
              <a:t>Team Member Roles and Responsibilities **</a:t>
            </a:r>
            <a:endParaRPr sz="1185">
              <a:solidFill>
                <a:srgbClr val="000000"/>
              </a:solidFill>
            </a:endParaRPr>
          </a:p>
          <a:p>
            <a:pPr indent="-303847" lvl="0" marL="457200" rtl="0" algn="l">
              <a:lnSpc>
                <a:spcPct val="95000"/>
              </a:lnSpc>
              <a:spcBef>
                <a:spcPts val="0"/>
              </a:spcBef>
              <a:spcAft>
                <a:spcPts val="0"/>
              </a:spcAft>
              <a:buClr>
                <a:srgbClr val="000000"/>
              </a:buClr>
              <a:buSzPts val="1185"/>
              <a:buChar char="●"/>
            </a:pPr>
            <a:r>
              <a:rPr lang="en" sz="1185">
                <a:solidFill>
                  <a:srgbClr val="000000"/>
                </a:solidFill>
              </a:rPr>
              <a:t>Improvements from Feedback </a:t>
            </a:r>
            <a:endParaRPr sz="1185">
              <a:solidFill>
                <a:srgbClr val="000000"/>
              </a:solidFill>
            </a:endParaRPr>
          </a:p>
          <a:p>
            <a:pPr indent="-303847" lvl="0" marL="457200" rtl="0" algn="l">
              <a:lnSpc>
                <a:spcPct val="95000"/>
              </a:lnSpc>
              <a:spcBef>
                <a:spcPts val="0"/>
              </a:spcBef>
              <a:spcAft>
                <a:spcPts val="0"/>
              </a:spcAft>
              <a:buClr>
                <a:srgbClr val="000000"/>
              </a:buClr>
              <a:buSzPts val="1185"/>
              <a:buChar char="●"/>
            </a:pPr>
            <a:r>
              <a:rPr lang="en" sz="1185">
                <a:solidFill>
                  <a:srgbClr val="000000"/>
                </a:solidFill>
              </a:rPr>
              <a:t>Project Description **</a:t>
            </a:r>
            <a:endParaRPr sz="1185">
              <a:solidFill>
                <a:srgbClr val="000000"/>
              </a:solidFill>
            </a:endParaRPr>
          </a:p>
          <a:p>
            <a:pPr indent="-303847" lvl="0" marL="457200" rtl="0" algn="l">
              <a:lnSpc>
                <a:spcPct val="95000"/>
              </a:lnSpc>
              <a:spcBef>
                <a:spcPts val="0"/>
              </a:spcBef>
              <a:spcAft>
                <a:spcPts val="0"/>
              </a:spcAft>
              <a:buClr>
                <a:srgbClr val="000000"/>
              </a:buClr>
              <a:buSzPts val="1185"/>
              <a:buChar char="●"/>
            </a:pPr>
            <a:r>
              <a:rPr lang="en" sz="1185">
                <a:solidFill>
                  <a:srgbClr val="000000"/>
                </a:solidFill>
              </a:rPr>
              <a:t>Team Working Agreement**</a:t>
            </a:r>
            <a:endParaRPr sz="1185">
              <a:solidFill>
                <a:srgbClr val="000000"/>
              </a:solidFill>
            </a:endParaRPr>
          </a:p>
          <a:p>
            <a:pPr indent="-303847" lvl="0" marL="457200" rtl="0" algn="l">
              <a:lnSpc>
                <a:spcPct val="95000"/>
              </a:lnSpc>
              <a:spcBef>
                <a:spcPts val="0"/>
              </a:spcBef>
              <a:spcAft>
                <a:spcPts val="0"/>
              </a:spcAft>
              <a:buClr>
                <a:srgbClr val="000000"/>
              </a:buClr>
              <a:buSzPts val="1185"/>
              <a:buChar char="●"/>
            </a:pPr>
            <a:r>
              <a:rPr lang="en" sz="1185">
                <a:solidFill>
                  <a:srgbClr val="000000"/>
                </a:solidFill>
              </a:rPr>
              <a:t>Personas</a:t>
            </a:r>
            <a:endParaRPr sz="1185">
              <a:solidFill>
                <a:srgbClr val="000000"/>
              </a:solidFill>
            </a:endParaRPr>
          </a:p>
          <a:p>
            <a:pPr indent="-303847" lvl="0" marL="457200" rtl="0" algn="l">
              <a:lnSpc>
                <a:spcPct val="95000"/>
              </a:lnSpc>
              <a:spcBef>
                <a:spcPts val="0"/>
              </a:spcBef>
              <a:spcAft>
                <a:spcPts val="0"/>
              </a:spcAft>
              <a:buClr>
                <a:srgbClr val="000000"/>
              </a:buClr>
              <a:buSzPts val="1185"/>
              <a:buChar char="●"/>
            </a:pPr>
            <a:r>
              <a:rPr lang="en" sz="1185">
                <a:solidFill>
                  <a:srgbClr val="000000"/>
                </a:solidFill>
              </a:rPr>
              <a:t>MVP</a:t>
            </a:r>
            <a:endParaRPr sz="1185">
              <a:solidFill>
                <a:srgbClr val="000000"/>
              </a:solidFill>
            </a:endParaRPr>
          </a:p>
          <a:p>
            <a:pPr indent="-303847" lvl="0" marL="457200" rtl="0" algn="l">
              <a:lnSpc>
                <a:spcPct val="95000"/>
              </a:lnSpc>
              <a:spcBef>
                <a:spcPts val="0"/>
              </a:spcBef>
              <a:spcAft>
                <a:spcPts val="0"/>
              </a:spcAft>
              <a:buClr>
                <a:srgbClr val="000000"/>
              </a:buClr>
              <a:buSzPts val="1185"/>
              <a:buChar char="●"/>
            </a:pPr>
            <a:r>
              <a:rPr lang="en" sz="1185">
                <a:solidFill>
                  <a:srgbClr val="000000"/>
                </a:solidFill>
              </a:rPr>
              <a:t>Algorithms</a:t>
            </a:r>
            <a:endParaRPr sz="1185">
              <a:solidFill>
                <a:srgbClr val="000000"/>
              </a:solidFill>
            </a:endParaRPr>
          </a:p>
          <a:p>
            <a:pPr indent="-303847" lvl="0" marL="457200" rtl="0" algn="l">
              <a:lnSpc>
                <a:spcPct val="95000"/>
              </a:lnSpc>
              <a:spcBef>
                <a:spcPts val="0"/>
              </a:spcBef>
              <a:spcAft>
                <a:spcPts val="0"/>
              </a:spcAft>
              <a:buClr>
                <a:srgbClr val="000000"/>
              </a:buClr>
              <a:buSzPts val="1185"/>
              <a:buChar char="●"/>
            </a:pPr>
            <a:r>
              <a:rPr lang="en" sz="1185">
                <a:solidFill>
                  <a:srgbClr val="000000"/>
                </a:solidFill>
              </a:rPr>
              <a:t>Rest API/Examples</a:t>
            </a:r>
            <a:endParaRPr sz="1185">
              <a:solidFill>
                <a:srgbClr val="000000"/>
              </a:solidFill>
            </a:endParaRPr>
          </a:p>
          <a:p>
            <a:pPr indent="-303847" lvl="0" marL="457200" rtl="0" algn="l">
              <a:lnSpc>
                <a:spcPct val="95000"/>
              </a:lnSpc>
              <a:spcBef>
                <a:spcPts val="0"/>
              </a:spcBef>
              <a:spcAft>
                <a:spcPts val="0"/>
              </a:spcAft>
              <a:buClr>
                <a:srgbClr val="000000"/>
              </a:buClr>
              <a:buSzPts val="1185"/>
              <a:buChar char="●"/>
            </a:pPr>
            <a:r>
              <a:rPr lang="en" sz="1185">
                <a:solidFill>
                  <a:srgbClr val="000000"/>
                </a:solidFill>
              </a:rPr>
              <a:t>Diagrams</a:t>
            </a:r>
            <a:endParaRPr sz="1185">
              <a:solidFill>
                <a:srgbClr val="000000"/>
              </a:solidFill>
            </a:endParaRPr>
          </a:p>
          <a:p>
            <a:pPr indent="-303847" lvl="0" marL="457200" rtl="0" algn="l">
              <a:lnSpc>
                <a:spcPct val="95000"/>
              </a:lnSpc>
              <a:spcBef>
                <a:spcPts val="0"/>
              </a:spcBef>
              <a:spcAft>
                <a:spcPts val="0"/>
              </a:spcAft>
              <a:buClr>
                <a:srgbClr val="000000"/>
              </a:buClr>
              <a:buSzPts val="1185"/>
              <a:buChar char="●"/>
            </a:pPr>
            <a:r>
              <a:rPr lang="en" sz="1185">
                <a:solidFill>
                  <a:srgbClr val="000000"/>
                </a:solidFill>
              </a:rPr>
              <a:t>Frontend Preview</a:t>
            </a:r>
            <a:endParaRPr sz="1185">
              <a:solidFill>
                <a:srgbClr val="000000"/>
              </a:solidFill>
            </a:endParaRPr>
          </a:p>
          <a:p>
            <a:pPr indent="-303847" lvl="0" marL="457200" rtl="0" algn="l">
              <a:lnSpc>
                <a:spcPct val="95000"/>
              </a:lnSpc>
              <a:spcBef>
                <a:spcPts val="0"/>
              </a:spcBef>
              <a:spcAft>
                <a:spcPts val="0"/>
              </a:spcAft>
              <a:buClr>
                <a:srgbClr val="000000"/>
              </a:buClr>
              <a:buSzPts val="1185"/>
              <a:buChar char="●"/>
            </a:pPr>
            <a:r>
              <a:rPr lang="en" sz="1185">
                <a:solidFill>
                  <a:srgbClr val="000000"/>
                </a:solidFill>
              </a:rPr>
              <a:t>Technologies</a:t>
            </a:r>
            <a:endParaRPr sz="1185">
              <a:solidFill>
                <a:srgbClr val="000000"/>
              </a:solidFill>
            </a:endParaRPr>
          </a:p>
          <a:p>
            <a:pPr indent="-303847" lvl="0" marL="457200" rtl="0" algn="l">
              <a:lnSpc>
                <a:spcPct val="95000"/>
              </a:lnSpc>
              <a:spcBef>
                <a:spcPts val="0"/>
              </a:spcBef>
              <a:spcAft>
                <a:spcPts val="0"/>
              </a:spcAft>
              <a:buClr>
                <a:srgbClr val="000000"/>
              </a:buClr>
              <a:buSzPts val="1185"/>
              <a:buChar char="●"/>
            </a:pPr>
            <a:r>
              <a:rPr lang="en" sz="1185">
                <a:solidFill>
                  <a:srgbClr val="000000"/>
                </a:solidFill>
              </a:rPr>
              <a:t>Product Backlog</a:t>
            </a:r>
            <a:endParaRPr sz="1185">
              <a:solidFill>
                <a:srgbClr val="000000"/>
              </a:solidFill>
            </a:endParaRPr>
          </a:p>
          <a:p>
            <a:pPr indent="-303847" lvl="0" marL="457200" rtl="0" algn="l">
              <a:lnSpc>
                <a:spcPct val="95000"/>
              </a:lnSpc>
              <a:spcBef>
                <a:spcPts val="0"/>
              </a:spcBef>
              <a:spcAft>
                <a:spcPts val="0"/>
              </a:spcAft>
              <a:buClr>
                <a:srgbClr val="000000"/>
              </a:buClr>
              <a:buSzPts val="1185"/>
              <a:buChar char="●"/>
            </a:pPr>
            <a:r>
              <a:rPr lang="en" sz="1185">
                <a:solidFill>
                  <a:srgbClr val="000000"/>
                </a:solidFill>
              </a:rPr>
              <a:t>Sprint 2 Backlog</a:t>
            </a:r>
            <a:endParaRPr sz="1185">
              <a:solidFill>
                <a:srgbClr val="000000"/>
              </a:solidFill>
            </a:endParaRPr>
          </a:p>
          <a:p>
            <a:pPr indent="-303847" lvl="0" marL="457200" rtl="0" algn="l">
              <a:lnSpc>
                <a:spcPct val="95000"/>
              </a:lnSpc>
              <a:spcBef>
                <a:spcPts val="0"/>
              </a:spcBef>
              <a:spcAft>
                <a:spcPts val="0"/>
              </a:spcAft>
              <a:buClr>
                <a:srgbClr val="000000"/>
              </a:buClr>
              <a:buSzPts val="1185"/>
              <a:buChar char="●"/>
            </a:pPr>
            <a:r>
              <a:rPr lang="en" sz="1185">
                <a:solidFill>
                  <a:srgbClr val="000000"/>
                </a:solidFill>
              </a:rPr>
              <a:t>Sprint Burndown Chart &amp; Reports</a:t>
            </a:r>
            <a:endParaRPr sz="1185">
              <a:solidFill>
                <a:srgbClr val="000000"/>
              </a:solidFill>
            </a:endParaRPr>
          </a:p>
          <a:p>
            <a:pPr indent="-303847" lvl="0" marL="457200" rtl="0" algn="l">
              <a:lnSpc>
                <a:spcPct val="95000"/>
              </a:lnSpc>
              <a:spcBef>
                <a:spcPts val="0"/>
              </a:spcBef>
              <a:spcAft>
                <a:spcPts val="0"/>
              </a:spcAft>
              <a:buClr>
                <a:srgbClr val="000000"/>
              </a:buClr>
              <a:buSzPts val="1185"/>
              <a:buChar char="●"/>
            </a:pPr>
            <a:r>
              <a:rPr lang="en" sz="1185">
                <a:solidFill>
                  <a:srgbClr val="000000"/>
                </a:solidFill>
              </a:rPr>
              <a:t>Velocity Reports</a:t>
            </a:r>
            <a:endParaRPr sz="1185">
              <a:solidFill>
                <a:srgbClr val="000000"/>
              </a:solidFill>
            </a:endParaRPr>
          </a:p>
          <a:p>
            <a:pPr indent="-303847" lvl="0" marL="457200" rtl="0" algn="l">
              <a:lnSpc>
                <a:spcPct val="95000"/>
              </a:lnSpc>
              <a:spcBef>
                <a:spcPts val="0"/>
              </a:spcBef>
              <a:spcAft>
                <a:spcPts val="0"/>
              </a:spcAft>
              <a:buClr>
                <a:srgbClr val="000000"/>
              </a:buClr>
              <a:buSzPts val="1185"/>
              <a:buChar char="●"/>
            </a:pPr>
            <a:r>
              <a:rPr lang="en" sz="1185">
                <a:solidFill>
                  <a:srgbClr val="000000"/>
                </a:solidFill>
              </a:rPr>
              <a:t>User Stories / Test Cases</a:t>
            </a:r>
            <a:endParaRPr sz="1185">
              <a:solidFill>
                <a:srgbClr val="000000"/>
              </a:solidFill>
            </a:endParaRPr>
          </a:p>
          <a:p>
            <a:pPr indent="-303847" lvl="0" marL="457200" rtl="0" algn="l">
              <a:lnSpc>
                <a:spcPct val="95000"/>
              </a:lnSpc>
              <a:spcBef>
                <a:spcPts val="0"/>
              </a:spcBef>
              <a:spcAft>
                <a:spcPts val="0"/>
              </a:spcAft>
              <a:buClr>
                <a:srgbClr val="000000"/>
              </a:buClr>
              <a:buSzPts val="1185"/>
              <a:buChar char="●"/>
            </a:pPr>
            <a:r>
              <a:rPr lang="en" sz="1185">
                <a:solidFill>
                  <a:srgbClr val="000000"/>
                </a:solidFill>
              </a:rPr>
              <a:t>Project Schedule</a:t>
            </a:r>
            <a:endParaRPr sz="1185">
              <a:solidFill>
                <a:srgbClr val="000000"/>
              </a:solidFill>
            </a:endParaRPr>
          </a:p>
          <a:p>
            <a:pPr indent="-303847" lvl="0" marL="457200" rtl="0" algn="l">
              <a:lnSpc>
                <a:spcPct val="95000"/>
              </a:lnSpc>
              <a:spcBef>
                <a:spcPts val="0"/>
              </a:spcBef>
              <a:spcAft>
                <a:spcPts val="0"/>
              </a:spcAft>
              <a:buClr>
                <a:srgbClr val="000000"/>
              </a:buClr>
              <a:buSzPts val="1185"/>
              <a:buChar char="●"/>
            </a:pPr>
            <a:r>
              <a:rPr lang="en" sz="1185">
                <a:solidFill>
                  <a:srgbClr val="000000"/>
                </a:solidFill>
              </a:rPr>
              <a:t>Retrospective</a:t>
            </a:r>
            <a:endParaRPr sz="1185">
              <a:solidFill>
                <a:srgbClr val="000000"/>
              </a:solidFill>
            </a:endParaRPr>
          </a:p>
          <a:p>
            <a:pPr indent="-303847" lvl="0" marL="457200" rtl="0" algn="l">
              <a:lnSpc>
                <a:spcPct val="95000"/>
              </a:lnSpc>
              <a:spcBef>
                <a:spcPts val="0"/>
              </a:spcBef>
              <a:spcAft>
                <a:spcPts val="0"/>
              </a:spcAft>
              <a:buClr>
                <a:srgbClr val="000000"/>
              </a:buClr>
              <a:buSzPts val="1185"/>
              <a:buChar char="●"/>
            </a:pPr>
            <a:r>
              <a:rPr lang="en" sz="1185">
                <a:solidFill>
                  <a:srgbClr val="000000"/>
                </a:solidFill>
              </a:rPr>
              <a:t>AI Disclosure</a:t>
            </a:r>
            <a:endParaRPr sz="1185">
              <a:solidFill>
                <a:srgbClr val="000000"/>
              </a:solidFill>
            </a:endParaRPr>
          </a:p>
          <a:p>
            <a:pPr indent="-303847" lvl="0" marL="457200" rtl="0" algn="l">
              <a:lnSpc>
                <a:spcPct val="95000"/>
              </a:lnSpc>
              <a:spcBef>
                <a:spcPts val="0"/>
              </a:spcBef>
              <a:spcAft>
                <a:spcPts val="0"/>
              </a:spcAft>
              <a:buClr>
                <a:srgbClr val="000000"/>
              </a:buClr>
              <a:buSzPts val="1185"/>
              <a:buChar char="●"/>
            </a:pPr>
            <a:r>
              <a:rPr lang="en" sz="1185">
                <a:solidFill>
                  <a:srgbClr val="000000"/>
                </a:solidFill>
              </a:rPr>
              <a:t>Github Link</a:t>
            </a:r>
            <a:endParaRPr sz="1185">
              <a:solidFill>
                <a:srgbClr val="00000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15"/>
          <p:cNvSpPr txBox="1"/>
          <p:nvPr>
            <p:ph type="title"/>
          </p:nvPr>
        </p:nvSpPr>
        <p:spPr>
          <a:xfrm>
            <a:off x="269975" y="220200"/>
            <a:ext cx="7505700" cy="672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300">
                <a:latin typeface="Calibri"/>
                <a:ea typeface="Calibri"/>
                <a:cs typeface="Calibri"/>
                <a:sym typeface="Calibri"/>
              </a:rPr>
              <a:t>Team Members</a:t>
            </a:r>
            <a:endParaRPr sz="3300">
              <a:latin typeface="Calibri"/>
              <a:ea typeface="Calibri"/>
              <a:cs typeface="Calibri"/>
              <a:sym typeface="Calibri"/>
            </a:endParaRPr>
          </a:p>
        </p:txBody>
      </p:sp>
      <p:pic>
        <p:nvPicPr>
          <p:cNvPr id="141" name="Google Shape;141;p15" title="Screenshot 2025-10-19 at 4.37.56 PM.png"/>
          <p:cNvPicPr preferRelativeResize="0"/>
          <p:nvPr/>
        </p:nvPicPr>
        <p:blipFill>
          <a:blip r:embed="rId3">
            <a:alphaModFix/>
          </a:blip>
          <a:stretch>
            <a:fillRect/>
          </a:stretch>
        </p:blipFill>
        <p:spPr>
          <a:xfrm>
            <a:off x="494225" y="892300"/>
            <a:ext cx="1186792" cy="1612425"/>
          </a:xfrm>
          <a:prstGeom prst="rect">
            <a:avLst/>
          </a:prstGeom>
          <a:noFill/>
          <a:ln>
            <a:noFill/>
          </a:ln>
        </p:spPr>
      </p:pic>
      <p:sp>
        <p:nvSpPr>
          <p:cNvPr id="142" name="Google Shape;142;p15"/>
          <p:cNvSpPr txBox="1"/>
          <p:nvPr/>
        </p:nvSpPr>
        <p:spPr>
          <a:xfrm>
            <a:off x="269975" y="2504725"/>
            <a:ext cx="1635300" cy="38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chemeClr val="dk2"/>
                </a:solidFill>
                <a:latin typeface="Calibri"/>
                <a:ea typeface="Calibri"/>
                <a:cs typeface="Calibri"/>
                <a:sym typeface="Calibri"/>
              </a:rPr>
              <a:t>Emmet Allen- </a:t>
            </a:r>
            <a:r>
              <a:rPr lang="en" sz="900">
                <a:solidFill>
                  <a:schemeClr val="dk2"/>
                </a:solidFill>
                <a:latin typeface="Calibri"/>
                <a:ea typeface="Calibri"/>
                <a:cs typeface="Calibri"/>
                <a:sym typeface="Calibri"/>
              </a:rPr>
              <a:t>Scrum</a:t>
            </a:r>
            <a:r>
              <a:rPr lang="en" sz="900">
                <a:solidFill>
                  <a:schemeClr val="dk2"/>
                </a:solidFill>
                <a:latin typeface="Calibri"/>
                <a:ea typeface="Calibri"/>
                <a:cs typeface="Calibri"/>
                <a:sym typeface="Calibri"/>
              </a:rPr>
              <a:t> Master / Systems Architect</a:t>
            </a:r>
            <a:endParaRPr sz="900">
              <a:solidFill>
                <a:schemeClr val="dk2"/>
              </a:solidFill>
              <a:latin typeface="Calibri"/>
              <a:ea typeface="Calibri"/>
              <a:cs typeface="Calibri"/>
              <a:sym typeface="Calibri"/>
            </a:endParaRPr>
          </a:p>
        </p:txBody>
      </p:sp>
      <p:pic>
        <p:nvPicPr>
          <p:cNvPr id="143" name="Google Shape;143;p15" title="Screenshot 2025-10-19 at 4.38.19 PM.png"/>
          <p:cNvPicPr preferRelativeResize="0"/>
          <p:nvPr/>
        </p:nvPicPr>
        <p:blipFill>
          <a:blip r:embed="rId4">
            <a:alphaModFix/>
          </a:blip>
          <a:stretch>
            <a:fillRect/>
          </a:stretch>
        </p:blipFill>
        <p:spPr>
          <a:xfrm>
            <a:off x="2165100" y="892299"/>
            <a:ext cx="1169900" cy="1612425"/>
          </a:xfrm>
          <a:prstGeom prst="rect">
            <a:avLst/>
          </a:prstGeom>
          <a:noFill/>
          <a:ln>
            <a:noFill/>
          </a:ln>
        </p:spPr>
      </p:pic>
      <p:sp>
        <p:nvSpPr>
          <p:cNvPr id="144" name="Google Shape;144;p15"/>
          <p:cNvSpPr txBox="1"/>
          <p:nvPr/>
        </p:nvSpPr>
        <p:spPr>
          <a:xfrm>
            <a:off x="1905275" y="2467075"/>
            <a:ext cx="1833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solidFill>
                  <a:schemeClr val="dk2"/>
                </a:solidFill>
                <a:latin typeface="Calibri"/>
                <a:ea typeface="Calibri"/>
                <a:cs typeface="Calibri"/>
                <a:sym typeface="Calibri"/>
              </a:rPr>
              <a:t>Ben Smith - Backend Dev / Integrations</a:t>
            </a:r>
            <a:endParaRPr sz="900">
              <a:solidFill>
                <a:schemeClr val="dk2"/>
              </a:solidFill>
              <a:latin typeface="Calibri"/>
              <a:ea typeface="Calibri"/>
              <a:cs typeface="Calibri"/>
              <a:sym typeface="Calibri"/>
            </a:endParaRPr>
          </a:p>
        </p:txBody>
      </p:sp>
      <p:pic>
        <p:nvPicPr>
          <p:cNvPr id="145" name="Google Shape;145;p15" title="Screenshot 2025-10-19 at 4.38.12 PM.png"/>
          <p:cNvPicPr preferRelativeResize="0"/>
          <p:nvPr/>
        </p:nvPicPr>
        <p:blipFill>
          <a:blip r:embed="rId5">
            <a:alphaModFix/>
          </a:blip>
          <a:stretch>
            <a:fillRect/>
          </a:stretch>
        </p:blipFill>
        <p:spPr>
          <a:xfrm>
            <a:off x="3738875" y="875625"/>
            <a:ext cx="1314400" cy="1645774"/>
          </a:xfrm>
          <a:prstGeom prst="rect">
            <a:avLst/>
          </a:prstGeom>
          <a:noFill/>
          <a:ln>
            <a:noFill/>
          </a:ln>
        </p:spPr>
      </p:pic>
      <p:sp>
        <p:nvSpPr>
          <p:cNvPr id="146" name="Google Shape;146;p15"/>
          <p:cNvSpPr txBox="1"/>
          <p:nvPr/>
        </p:nvSpPr>
        <p:spPr>
          <a:xfrm>
            <a:off x="3465825" y="2571750"/>
            <a:ext cx="15192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solidFill>
                  <a:schemeClr val="dk2"/>
                </a:solidFill>
                <a:latin typeface="Calibri"/>
                <a:ea typeface="Calibri"/>
                <a:cs typeface="Calibri"/>
                <a:sym typeface="Calibri"/>
              </a:rPr>
              <a:t>Brian Moran - Full Stack Dev</a:t>
            </a:r>
            <a:endParaRPr sz="900">
              <a:solidFill>
                <a:schemeClr val="dk2"/>
              </a:solidFill>
              <a:latin typeface="Calibri"/>
              <a:ea typeface="Calibri"/>
              <a:cs typeface="Calibri"/>
              <a:sym typeface="Calibri"/>
            </a:endParaRPr>
          </a:p>
        </p:txBody>
      </p:sp>
      <p:pic>
        <p:nvPicPr>
          <p:cNvPr id="147" name="Google Shape;147;p15" title="Screenshot 2025-10-19 at 4.38.06 PM.png"/>
          <p:cNvPicPr preferRelativeResize="0"/>
          <p:nvPr/>
        </p:nvPicPr>
        <p:blipFill>
          <a:blip r:embed="rId6">
            <a:alphaModFix/>
          </a:blip>
          <a:stretch>
            <a:fillRect/>
          </a:stretch>
        </p:blipFill>
        <p:spPr>
          <a:xfrm>
            <a:off x="5409750" y="892300"/>
            <a:ext cx="1246150" cy="1612425"/>
          </a:xfrm>
          <a:prstGeom prst="rect">
            <a:avLst/>
          </a:prstGeom>
          <a:noFill/>
          <a:ln>
            <a:noFill/>
          </a:ln>
        </p:spPr>
      </p:pic>
      <p:sp>
        <p:nvSpPr>
          <p:cNvPr id="148" name="Google Shape;148;p15"/>
          <p:cNvSpPr txBox="1"/>
          <p:nvPr/>
        </p:nvSpPr>
        <p:spPr>
          <a:xfrm>
            <a:off x="5541675" y="2571750"/>
            <a:ext cx="11142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solidFill>
                  <a:schemeClr val="dk2"/>
                </a:solidFill>
                <a:latin typeface="Calibri"/>
                <a:ea typeface="Calibri"/>
                <a:cs typeface="Calibri"/>
                <a:sym typeface="Calibri"/>
              </a:rPr>
              <a:t>Front End Dev Lead</a:t>
            </a:r>
            <a:endParaRPr sz="900">
              <a:solidFill>
                <a:schemeClr val="dk2"/>
              </a:solidFill>
              <a:latin typeface="Calibri"/>
              <a:ea typeface="Calibri"/>
              <a:cs typeface="Calibri"/>
              <a:sym typeface="Calibri"/>
            </a:endParaRPr>
          </a:p>
        </p:txBody>
      </p:sp>
      <p:pic>
        <p:nvPicPr>
          <p:cNvPr id="149" name="Google Shape;149;p15" title="Screenshot 2025-10-19 at 4.38.01 PM.png"/>
          <p:cNvPicPr preferRelativeResize="0"/>
          <p:nvPr/>
        </p:nvPicPr>
        <p:blipFill>
          <a:blip r:embed="rId7">
            <a:alphaModFix/>
          </a:blip>
          <a:stretch>
            <a:fillRect/>
          </a:stretch>
        </p:blipFill>
        <p:spPr>
          <a:xfrm>
            <a:off x="726075" y="2891125"/>
            <a:ext cx="1314400" cy="1645775"/>
          </a:xfrm>
          <a:prstGeom prst="rect">
            <a:avLst/>
          </a:prstGeom>
          <a:noFill/>
          <a:ln>
            <a:noFill/>
          </a:ln>
        </p:spPr>
      </p:pic>
      <p:sp>
        <p:nvSpPr>
          <p:cNvPr id="150" name="Google Shape;150;p15"/>
          <p:cNvSpPr txBox="1"/>
          <p:nvPr/>
        </p:nvSpPr>
        <p:spPr>
          <a:xfrm>
            <a:off x="195650" y="4573500"/>
            <a:ext cx="21027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solidFill>
                  <a:schemeClr val="dk2"/>
                </a:solidFill>
                <a:latin typeface="Calibri"/>
                <a:ea typeface="Calibri"/>
                <a:cs typeface="Calibri"/>
                <a:sym typeface="Calibri"/>
              </a:rPr>
              <a:t>Pete Adams - Back End Lead / Data Team</a:t>
            </a:r>
            <a:endParaRPr sz="900">
              <a:solidFill>
                <a:schemeClr val="dk2"/>
              </a:solidFill>
              <a:latin typeface="Calibri"/>
              <a:ea typeface="Calibri"/>
              <a:cs typeface="Calibri"/>
              <a:sym typeface="Calibri"/>
            </a:endParaRPr>
          </a:p>
        </p:txBody>
      </p:sp>
      <p:pic>
        <p:nvPicPr>
          <p:cNvPr id="151" name="Google Shape;151;p15" title="Screenshot 2025-10-19 at 4.37.50 PM.png"/>
          <p:cNvPicPr preferRelativeResize="0"/>
          <p:nvPr/>
        </p:nvPicPr>
        <p:blipFill>
          <a:blip r:embed="rId8">
            <a:alphaModFix/>
          </a:blip>
          <a:stretch>
            <a:fillRect/>
          </a:stretch>
        </p:blipFill>
        <p:spPr>
          <a:xfrm>
            <a:off x="2730100" y="2872825"/>
            <a:ext cx="1246150" cy="1682375"/>
          </a:xfrm>
          <a:prstGeom prst="rect">
            <a:avLst/>
          </a:prstGeom>
          <a:noFill/>
          <a:ln>
            <a:noFill/>
          </a:ln>
        </p:spPr>
      </p:pic>
      <p:sp>
        <p:nvSpPr>
          <p:cNvPr id="152" name="Google Shape;152;p15"/>
          <p:cNvSpPr txBox="1"/>
          <p:nvPr/>
        </p:nvSpPr>
        <p:spPr>
          <a:xfrm>
            <a:off x="2298350" y="4573500"/>
            <a:ext cx="23100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solidFill>
                  <a:schemeClr val="dk2"/>
                </a:solidFill>
                <a:latin typeface="Calibri"/>
                <a:ea typeface="Calibri"/>
                <a:cs typeface="Calibri"/>
                <a:sym typeface="Calibri"/>
              </a:rPr>
              <a:t>Christos Markakis - Data Team / Full Stack Dev</a:t>
            </a:r>
            <a:endParaRPr sz="900">
              <a:solidFill>
                <a:schemeClr val="dk2"/>
              </a:solidFill>
              <a:latin typeface="Calibri"/>
              <a:ea typeface="Calibri"/>
              <a:cs typeface="Calibri"/>
              <a:sym typeface="Calibri"/>
            </a:endParaRPr>
          </a:p>
        </p:txBody>
      </p:sp>
      <p:pic>
        <p:nvPicPr>
          <p:cNvPr id="153" name="Google Shape;153;p15" title="Screenshot 2025-10-19 at 4.37.46 PM.png"/>
          <p:cNvPicPr preferRelativeResize="0"/>
          <p:nvPr/>
        </p:nvPicPr>
        <p:blipFill>
          <a:blip r:embed="rId9">
            <a:alphaModFix/>
          </a:blip>
          <a:stretch>
            <a:fillRect/>
          </a:stretch>
        </p:blipFill>
        <p:spPr>
          <a:xfrm>
            <a:off x="4895900" y="2894850"/>
            <a:ext cx="1314400" cy="1702726"/>
          </a:xfrm>
          <a:prstGeom prst="rect">
            <a:avLst/>
          </a:prstGeom>
          <a:noFill/>
          <a:ln>
            <a:noFill/>
          </a:ln>
        </p:spPr>
      </p:pic>
      <p:sp>
        <p:nvSpPr>
          <p:cNvPr id="154" name="Google Shape;154;p15"/>
          <p:cNvSpPr txBox="1"/>
          <p:nvPr/>
        </p:nvSpPr>
        <p:spPr>
          <a:xfrm>
            <a:off x="4608350" y="4573500"/>
            <a:ext cx="23100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solidFill>
                  <a:schemeClr val="dk2"/>
                </a:solidFill>
                <a:latin typeface="Calibri"/>
                <a:ea typeface="Calibri"/>
                <a:cs typeface="Calibri"/>
                <a:sym typeface="Calibri"/>
              </a:rPr>
              <a:t>Jalen Gill - Front End Dev / Integrations</a:t>
            </a:r>
            <a:endParaRPr sz="900">
              <a:solidFill>
                <a:schemeClr val="dk2"/>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16"/>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3300">
                <a:latin typeface="Calibri"/>
                <a:ea typeface="Calibri"/>
                <a:cs typeface="Calibri"/>
                <a:sym typeface="Calibri"/>
              </a:rPr>
              <a:t>Improvements from </a:t>
            </a:r>
            <a:r>
              <a:rPr lang="en" sz="3300">
                <a:latin typeface="Calibri"/>
                <a:ea typeface="Calibri"/>
                <a:cs typeface="Calibri"/>
                <a:sym typeface="Calibri"/>
              </a:rPr>
              <a:t>Feedback</a:t>
            </a:r>
            <a:endParaRPr sz="3300">
              <a:latin typeface="Calibri"/>
              <a:ea typeface="Calibri"/>
              <a:cs typeface="Calibri"/>
              <a:sym typeface="Calibri"/>
            </a:endParaRPr>
          </a:p>
        </p:txBody>
      </p:sp>
      <p:sp>
        <p:nvSpPr>
          <p:cNvPr id="160" name="Google Shape;160;p16"/>
          <p:cNvSpPr txBox="1"/>
          <p:nvPr>
            <p:ph idx="1" type="body"/>
          </p:nvPr>
        </p:nvSpPr>
        <p:spPr>
          <a:xfrm>
            <a:off x="786925" y="2006825"/>
            <a:ext cx="7505700" cy="24480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
              <a:t>Reviewed peer and instructor feedback on project presentation and group wiki page.</a:t>
            </a:r>
            <a:endParaRPr/>
          </a:p>
          <a:p>
            <a:pPr indent="-311150" lvl="0" marL="457200" rtl="0" algn="l">
              <a:spcBef>
                <a:spcPts val="0"/>
              </a:spcBef>
              <a:spcAft>
                <a:spcPts val="0"/>
              </a:spcAft>
              <a:buSzPts val="1300"/>
              <a:buChar char="-"/>
            </a:pPr>
            <a:r>
              <a:rPr lang="en"/>
              <a:t>Added download links for sprint deliverable items</a:t>
            </a:r>
            <a:endParaRPr/>
          </a:p>
          <a:p>
            <a:pPr indent="-311150" lvl="0" marL="457200" rtl="0" algn="l">
              <a:spcBef>
                <a:spcPts val="0"/>
              </a:spcBef>
              <a:spcAft>
                <a:spcPts val="0"/>
              </a:spcAft>
              <a:buSzPts val="1300"/>
              <a:buChar char="-"/>
            </a:pPr>
            <a:r>
              <a:rPr lang="en"/>
              <a:t>Incorporated content into the wiki page to meet syllabus standard.</a:t>
            </a:r>
            <a:endParaRPr/>
          </a:p>
          <a:p>
            <a:pPr indent="-311150" lvl="0" marL="457200" rtl="0" algn="l">
              <a:spcBef>
                <a:spcPts val="0"/>
              </a:spcBef>
              <a:spcAft>
                <a:spcPts val="0"/>
              </a:spcAft>
              <a:buSzPts val="1300"/>
              <a:buChar char="-"/>
            </a:pPr>
            <a:r>
              <a:rPr lang="en"/>
              <a:t>Added slides with relevant metrics on development process and status (burndown, velocity)</a:t>
            </a:r>
            <a:endParaRPr/>
          </a:p>
          <a:p>
            <a:pPr indent="-311150" lvl="0" marL="457200" rtl="0" algn="l">
              <a:spcBef>
                <a:spcPts val="0"/>
              </a:spcBef>
              <a:spcAft>
                <a:spcPts val="0"/>
              </a:spcAft>
              <a:buSzPts val="1300"/>
              <a:buChar char="-"/>
            </a:pPr>
            <a:r>
              <a:rPr lang="en"/>
              <a:t>Adjusted agenda slides to reflect presentation order</a:t>
            </a:r>
            <a:endParaRPr/>
          </a:p>
          <a:p>
            <a:pPr indent="-311150" lvl="0" marL="457200" rtl="0" algn="l">
              <a:spcBef>
                <a:spcPts val="0"/>
              </a:spcBef>
              <a:spcAft>
                <a:spcPts val="0"/>
              </a:spcAft>
              <a:buSzPts val="1300"/>
              <a:buChar char="-"/>
            </a:pPr>
            <a:r>
              <a:rPr lang="en"/>
              <a:t>Updated user stories to include better titles for who desires the functional request</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17"/>
          <p:cNvSpPr txBox="1"/>
          <p:nvPr>
            <p:ph type="title"/>
          </p:nvPr>
        </p:nvSpPr>
        <p:spPr>
          <a:xfrm>
            <a:off x="765475" y="62695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3300">
                <a:latin typeface="Calibri"/>
                <a:ea typeface="Calibri"/>
                <a:cs typeface="Calibri"/>
                <a:sym typeface="Calibri"/>
              </a:rPr>
              <a:t>Project Description</a:t>
            </a:r>
            <a:endParaRPr sz="3300">
              <a:latin typeface="Calibri"/>
              <a:ea typeface="Calibri"/>
              <a:cs typeface="Calibri"/>
              <a:sym typeface="Calibri"/>
            </a:endParaRPr>
          </a:p>
        </p:txBody>
      </p:sp>
      <p:sp>
        <p:nvSpPr>
          <p:cNvPr id="166" name="Google Shape;166;p17"/>
          <p:cNvSpPr txBox="1"/>
          <p:nvPr/>
        </p:nvSpPr>
        <p:spPr>
          <a:xfrm>
            <a:off x="790375" y="1289975"/>
            <a:ext cx="7455900" cy="3442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0"/>
              </a:spcAft>
              <a:buNone/>
            </a:pPr>
            <a:r>
              <a:rPr b="1" lang="en" sz="1500">
                <a:latin typeface="Calibri"/>
                <a:ea typeface="Calibri"/>
                <a:cs typeface="Calibri"/>
                <a:sym typeface="Calibri"/>
              </a:rPr>
              <a:t>Curated By You, For You (CFYBY)</a:t>
            </a:r>
            <a:endParaRPr b="1" sz="1500">
              <a:latin typeface="Calibri"/>
              <a:ea typeface="Calibri"/>
              <a:cs typeface="Calibri"/>
              <a:sym typeface="Calibri"/>
            </a:endParaRPr>
          </a:p>
          <a:p>
            <a:pPr indent="0" lvl="0" marL="0" rtl="0" algn="l">
              <a:lnSpc>
                <a:spcPct val="115000"/>
              </a:lnSpc>
              <a:spcBef>
                <a:spcPts val="1200"/>
              </a:spcBef>
              <a:spcAft>
                <a:spcPts val="0"/>
              </a:spcAft>
              <a:buNone/>
            </a:pPr>
            <a:r>
              <a:rPr b="1" lang="en" sz="900">
                <a:latin typeface="Calibri"/>
                <a:ea typeface="Calibri"/>
                <a:cs typeface="Calibri"/>
                <a:sym typeface="Calibri"/>
              </a:rPr>
              <a:t>Curated By You, For You</a:t>
            </a:r>
            <a:r>
              <a:rPr lang="en" sz="900">
                <a:latin typeface="Calibri"/>
                <a:ea typeface="Calibri"/>
                <a:cs typeface="Calibri"/>
                <a:sym typeface="Calibri"/>
              </a:rPr>
              <a:t> is a location-based music discovery platform designed to solve the challenge of fragmented and inconsistent local artist information. It provides users with a reliable way to discover, understand, and engage with artists in their local music scenes.</a:t>
            </a:r>
            <a:endParaRPr sz="900">
              <a:latin typeface="Calibri"/>
              <a:ea typeface="Calibri"/>
              <a:cs typeface="Calibri"/>
              <a:sym typeface="Calibri"/>
            </a:endParaRPr>
          </a:p>
          <a:p>
            <a:pPr indent="0" lvl="0" marL="0" rtl="0" algn="l">
              <a:lnSpc>
                <a:spcPct val="115000"/>
              </a:lnSpc>
              <a:spcBef>
                <a:spcPts val="1400"/>
              </a:spcBef>
              <a:spcAft>
                <a:spcPts val="0"/>
              </a:spcAft>
              <a:buNone/>
            </a:pPr>
            <a:r>
              <a:rPr b="1" lang="en" sz="1100">
                <a:latin typeface="Calibri"/>
                <a:ea typeface="Calibri"/>
                <a:cs typeface="Calibri"/>
                <a:sym typeface="Calibri"/>
              </a:rPr>
              <a:t>Who It’s For</a:t>
            </a:r>
            <a:endParaRPr b="1" sz="1100">
              <a:latin typeface="Calibri"/>
              <a:ea typeface="Calibri"/>
              <a:cs typeface="Calibri"/>
              <a:sym typeface="Calibri"/>
            </a:endParaRPr>
          </a:p>
          <a:p>
            <a:pPr indent="0" lvl="0" marL="0" rtl="0" algn="l">
              <a:lnSpc>
                <a:spcPct val="115000"/>
              </a:lnSpc>
              <a:spcBef>
                <a:spcPts val="1200"/>
              </a:spcBef>
              <a:spcAft>
                <a:spcPts val="0"/>
              </a:spcAft>
              <a:buNone/>
            </a:pPr>
            <a:r>
              <a:rPr lang="en" sz="900">
                <a:latin typeface="Calibri"/>
                <a:ea typeface="Calibri"/>
                <a:cs typeface="Calibri"/>
                <a:sym typeface="Calibri"/>
              </a:rPr>
              <a:t>Musicians looking to increase visibility, music fans seeking meaningful local discoveries, and industry professionals monitoring regional talent and trends.</a:t>
            </a:r>
            <a:endParaRPr sz="900">
              <a:latin typeface="Calibri"/>
              <a:ea typeface="Calibri"/>
              <a:cs typeface="Calibri"/>
              <a:sym typeface="Calibri"/>
            </a:endParaRPr>
          </a:p>
          <a:p>
            <a:pPr indent="0" lvl="0" marL="0" rtl="0" algn="l">
              <a:lnSpc>
                <a:spcPct val="115000"/>
              </a:lnSpc>
              <a:spcBef>
                <a:spcPts val="1400"/>
              </a:spcBef>
              <a:spcAft>
                <a:spcPts val="0"/>
              </a:spcAft>
              <a:buNone/>
            </a:pPr>
            <a:r>
              <a:rPr b="1" lang="en" sz="1100">
                <a:latin typeface="Calibri"/>
                <a:ea typeface="Calibri"/>
                <a:cs typeface="Calibri"/>
                <a:sym typeface="Calibri"/>
              </a:rPr>
              <a:t>What It Does</a:t>
            </a:r>
            <a:endParaRPr b="1" sz="1100">
              <a:latin typeface="Calibri"/>
              <a:ea typeface="Calibri"/>
              <a:cs typeface="Calibri"/>
              <a:sym typeface="Calibri"/>
            </a:endParaRPr>
          </a:p>
          <a:p>
            <a:pPr indent="0" lvl="0" marL="0" rtl="0" algn="l">
              <a:lnSpc>
                <a:spcPct val="115000"/>
              </a:lnSpc>
              <a:spcBef>
                <a:spcPts val="1200"/>
              </a:spcBef>
              <a:spcAft>
                <a:spcPts val="0"/>
              </a:spcAft>
              <a:buNone/>
            </a:pPr>
            <a:r>
              <a:rPr lang="en" sz="900">
                <a:latin typeface="Calibri"/>
                <a:ea typeface="Calibri"/>
                <a:cs typeface="Calibri"/>
                <a:sym typeface="Calibri"/>
              </a:rPr>
              <a:t>CFYBY collects and organizes artist data by </a:t>
            </a:r>
            <a:r>
              <a:rPr b="1" lang="en" sz="900">
                <a:latin typeface="Calibri"/>
                <a:ea typeface="Calibri"/>
                <a:cs typeface="Calibri"/>
                <a:sym typeface="Calibri"/>
              </a:rPr>
              <a:t>city, country, and genre</a:t>
            </a:r>
            <a:r>
              <a:rPr lang="en" sz="900">
                <a:latin typeface="Calibri"/>
                <a:ea typeface="Calibri"/>
                <a:cs typeface="Calibri"/>
                <a:sym typeface="Calibri"/>
              </a:rPr>
              <a:t>, delivering structured artist profiles, location-based search results, and discography insights. The application uses a secure backend and middleware layer to ensure accurate data delivery, graceful error handling, and consistent performance across devices.</a:t>
            </a:r>
            <a:endParaRPr sz="900">
              <a:latin typeface="Calibri"/>
              <a:ea typeface="Calibri"/>
              <a:cs typeface="Calibri"/>
              <a:sym typeface="Calibri"/>
            </a:endParaRPr>
          </a:p>
          <a:p>
            <a:pPr indent="0" lvl="0" marL="0" rtl="0" algn="l">
              <a:lnSpc>
                <a:spcPct val="115000"/>
              </a:lnSpc>
              <a:spcBef>
                <a:spcPts val="1400"/>
              </a:spcBef>
              <a:spcAft>
                <a:spcPts val="0"/>
              </a:spcAft>
              <a:buNone/>
            </a:pPr>
            <a:r>
              <a:rPr b="1" lang="en" sz="1100">
                <a:latin typeface="Calibri"/>
                <a:ea typeface="Calibri"/>
                <a:cs typeface="Calibri"/>
                <a:sym typeface="Calibri"/>
              </a:rPr>
              <a:t>Benefit</a:t>
            </a:r>
            <a:r>
              <a:rPr b="1" lang="en" sz="1100">
                <a:latin typeface="Calibri"/>
                <a:ea typeface="Calibri"/>
                <a:cs typeface="Calibri"/>
                <a:sym typeface="Calibri"/>
              </a:rPr>
              <a:t> Outcomes</a:t>
            </a:r>
            <a:endParaRPr b="1" sz="1100">
              <a:latin typeface="Calibri"/>
              <a:ea typeface="Calibri"/>
              <a:cs typeface="Calibri"/>
              <a:sym typeface="Calibri"/>
            </a:endParaRPr>
          </a:p>
          <a:p>
            <a:pPr indent="0" lvl="0" marL="0" rtl="0" algn="l">
              <a:lnSpc>
                <a:spcPct val="115000"/>
              </a:lnSpc>
              <a:spcBef>
                <a:spcPts val="1200"/>
              </a:spcBef>
              <a:spcAft>
                <a:spcPts val="1200"/>
              </a:spcAft>
              <a:buNone/>
            </a:pPr>
            <a:r>
              <a:rPr lang="en" sz="900">
                <a:latin typeface="Calibri"/>
                <a:ea typeface="Calibri"/>
                <a:cs typeface="Calibri"/>
                <a:sym typeface="Calibri"/>
              </a:rPr>
              <a:t>By improving data quality, accessibility, and transparency, CFYBY makes local music discovery easier for fans, helps artists grow sustainable audiences, and supports healthier, more connected local music ecosystems.</a:t>
            </a:r>
            <a:endParaRPr sz="1100">
              <a:solidFill>
                <a:schemeClr val="accent1"/>
              </a:solidFill>
              <a:latin typeface="Lato"/>
              <a:ea typeface="Lato"/>
              <a:cs typeface="Lato"/>
              <a:sym typeface="Lat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18"/>
          <p:cNvSpPr txBox="1"/>
          <p:nvPr>
            <p:ph type="title"/>
          </p:nvPr>
        </p:nvSpPr>
        <p:spPr>
          <a:xfrm>
            <a:off x="819150" y="720675"/>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3300">
                <a:latin typeface="Calibri"/>
                <a:ea typeface="Calibri"/>
                <a:cs typeface="Calibri"/>
                <a:sym typeface="Calibri"/>
              </a:rPr>
              <a:t>Team Working Agreement</a:t>
            </a:r>
            <a:endParaRPr sz="3300">
              <a:latin typeface="Calibri"/>
              <a:ea typeface="Calibri"/>
              <a:cs typeface="Calibri"/>
              <a:sym typeface="Calibri"/>
            </a:endParaRPr>
          </a:p>
        </p:txBody>
      </p:sp>
      <p:sp>
        <p:nvSpPr>
          <p:cNvPr id="172" name="Google Shape;172;p18"/>
          <p:cNvSpPr txBox="1"/>
          <p:nvPr>
            <p:ph idx="1" type="body"/>
          </p:nvPr>
        </p:nvSpPr>
        <p:spPr>
          <a:xfrm>
            <a:off x="624750" y="1354575"/>
            <a:ext cx="7894500" cy="3330900"/>
          </a:xfrm>
          <a:prstGeom prst="rect">
            <a:avLst/>
          </a:prstGeom>
        </p:spPr>
        <p:txBody>
          <a:bodyPr anchorCtr="0" anchor="t" bIns="91425" lIns="91425" spcFirstLastPara="1" rIns="91425" wrap="square" tIns="91425">
            <a:noAutofit/>
          </a:bodyPr>
          <a:lstStyle/>
          <a:p>
            <a:pPr indent="-292100" lvl="0" marL="457200" rtl="0" algn="l">
              <a:lnSpc>
                <a:spcPct val="95000"/>
              </a:lnSpc>
              <a:spcBef>
                <a:spcPts val="0"/>
              </a:spcBef>
              <a:spcAft>
                <a:spcPts val="0"/>
              </a:spcAft>
              <a:buSzPts val="1000"/>
              <a:buChar char="-"/>
            </a:pPr>
            <a:r>
              <a:rPr b="1" lang="en" sz="1000">
                <a:solidFill>
                  <a:srgbClr val="000000"/>
                </a:solidFill>
              </a:rPr>
              <a:t>Team Syncs:</a:t>
            </a:r>
            <a:r>
              <a:rPr lang="en" sz="1000">
                <a:solidFill>
                  <a:srgbClr val="000000"/>
                </a:solidFill>
              </a:rPr>
              <a:t> The team meets </a:t>
            </a:r>
            <a:r>
              <a:rPr b="1" lang="en" sz="1000">
                <a:solidFill>
                  <a:srgbClr val="000000"/>
                </a:solidFill>
              </a:rPr>
              <a:t>twice weekly on Tuesdays at 6:00 PM and Thursdays at 6:00 PM EST</a:t>
            </a:r>
            <a:r>
              <a:rPr lang="en" sz="1000">
                <a:solidFill>
                  <a:srgbClr val="000000"/>
                </a:solidFill>
              </a:rPr>
              <a:t> to align on progress, barriers, and next steps. Additional meetings may be scheduled as needed.</a:t>
            </a:r>
            <a:br>
              <a:rPr lang="en" sz="1000">
                <a:solidFill>
                  <a:srgbClr val="000000"/>
                </a:solidFill>
              </a:rPr>
            </a:br>
            <a:endParaRPr sz="1000">
              <a:solidFill>
                <a:srgbClr val="000000"/>
              </a:solidFill>
            </a:endParaRPr>
          </a:p>
          <a:p>
            <a:pPr indent="-292100" lvl="0" marL="457200" rtl="0" algn="l">
              <a:lnSpc>
                <a:spcPct val="95000"/>
              </a:lnSpc>
              <a:spcBef>
                <a:spcPts val="0"/>
              </a:spcBef>
              <a:spcAft>
                <a:spcPts val="0"/>
              </a:spcAft>
              <a:buSzPts val="1000"/>
              <a:buChar char="-"/>
            </a:pPr>
            <a:r>
              <a:rPr b="1" lang="en" sz="1000">
                <a:solidFill>
                  <a:srgbClr val="000000"/>
                </a:solidFill>
              </a:rPr>
              <a:t>Pair Programming:</a:t>
            </a:r>
            <a:r>
              <a:rPr lang="en" sz="1000">
                <a:solidFill>
                  <a:srgbClr val="000000"/>
                </a:solidFill>
              </a:rPr>
              <a:t> Development work is completed in </a:t>
            </a:r>
            <a:r>
              <a:rPr b="1" lang="en" sz="1000">
                <a:solidFill>
                  <a:srgbClr val="000000"/>
                </a:solidFill>
              </a:rPr>
              <a:t>pairs</a:t>
            </a:r>
            <a:r>
              <a:rPr lang="en" sz="1000">
                <a:solidFill>
                  <a:srgbClr val="000000"/>
                </a:solidFill>
              </a:rPr>
              <a:t> to encourage collaboration, shared understanding, and consistent quality.</a:t>
            </a:r>
            <a:br>
              <a:rPr lang="en" sz="1000">
                <a:solidFill>
                  <a:srgbClr val="000000"/>
                </a:solidFill>
              </a:rPr>
            </a:br>
            <a:endParaRPr sz="1000">
              <a:solidFill>
                <a:srgbClr val="000000"/>
              </a:solidFill>
            </a:endParaRPr>
          </a:p>
          <a:p>
            <a:pPr indent="-292100" lvl="0" marL="457200" rtl="0" algn="l">
              <a:lnSpc>
                <a:spcPct val="95000"/>
              </a:lnSpc>
              <a:spcBef>
                <a:spcPts val="0"/>
              </a:spcBef>
              <a:spcAft>
                <a:spcPts val="0"/>
              </a:spcAft>
              <a:buSzPts val="1000"/>
              <a:buChar char="-"/>
            </a:pPr>
            <a:r>
              <a:rPr b="1" lang="en" sz="1000">
                <a:solidFill>
                  <a:srgbClr val="000000"/>
                </a:solidFill>
              </a:rPr>
              <a:t>Ownership &amp; Accountability:</a:t>
            </a:r>
            <a:r>
              <a:rPr lang="en" sz="1000">
                <a:solidFill>
                  <a:srgbClr val="000000"/>
                </a:solidFill>
              </a:rPr>
              <a:t> If one partner is unavailable, the remaining partner is expected to </a:t>
            </a:r>
            <a:r>
              <a:rPr b="1" lang="en" sz="1000">
                <a:solidFill>
                  <a:srgbClr val="000000"/>
                </a:solidFill>
              </a:rPr>
              <a:t>continue progress</a:t>
            </a:r>
            <a:r>
              <a:rPr lang="en" sz="1000">
                <a:solidFill>
                  <a:srgbClr val="000000"/>
                </a:solidFill>
              </a:rPr>
              <a:t>, document updates, and flag risks early.</a:t>
            </a:r>
            <a:br>
              <a:rPr lang="en" sz="1000">
                <a:solidFill>
                  <a:srgbClr val="000000"/>
                </a:solidFill>
              </a:rPr>
            </a:br>
            <a:endParaRPr sz="1000">
              <a:solidFill>
                <a:srgbClr val="000000"/>
              </a:solidFill>
            </a:endParaRPr>
          </a:p>
          <a:p>
            <a:pPr indent="-292100" lvl="0" marL="457200" rtl="0" algn="l">
              <a:lnSpc>
                <a:spcPct val="95000"/>
              </a:lnSpc>
              <a:spcBef>
                <a:spcPts val="0"/>
              </a:spcBef>
              <a:spcAft>
                <a:spcPts val="0"/>
              </a:spcAft>
              <a:buSzPts val="1000"/>
              <a:buChar char="-"/>
            </a:pPr>
            <a:r>
              <a:rPr b="1" lang="en" sz="1000">
                <a:solidFill>
                  <a:srgbClr val="000000"/>
                </a:solidFill>
              </a:rPr>
              <a:t>Pair Flexibility:</a:t>
            </a:r>
            <a:r>
              <a:rPr lang="en" sz="1000">
                <a:solidFill>
                  <a:srgbClr val="000000"/>
                </a:solidFill>
              </a:rPr>
              <a:t> Pairings may </a:t>
            </a:r>
            <a:r>
              <a:rPr b="1" lang="en" sz="1000">
                <a:solidFill>
                  <a:srgbClr val="000000"/>
                </a:solidFill>
              </a:rPr>
              <a:t>rotate per story or per sprint</a:t>
            </a:r>
            <a:r>
              <a:rPr lang="en" sz="1000">
                <a:solidFill>
                  <a:srgbClr val="000000"/>
                </a:solidFill>
              </a:rPr>
              <a:t> based on availability, workload, or required expertise to ensure balanced contribution.</a:t>
            </a:r>
            <a:br>
              <a:rPr lang="en" sz="1000">
                <a:solidFill>
                  <a:srgbClr val="000000"/>
                </a:solidFill>
              </a:rPr>
            </a:br>
            <a:endParaRPr sz="1000">
              <a:solidFill>
                <a:srgbClr val="000000"/>
              </a:solidFill>
            </a:endParaRPr>
          </a:p>
          <a:p>
            <a:pPr indent="-292100" lvl="0" marL="457200" rtl="0" algn="l">
              <a:lnSpc>
                <a:spcPct val="95000"/>
              </a:lnSpc>
              <a:spcBef>
                <a:spcPts val="0"/>
              </a:spcBef>
              <a:spcAft>
                <a:spcPts val="0"/>
              </a:spcAft>
              <a:buSzPts val="1000"/>
              <a:buChar char="-"/>
            </a:pPr>
            <a:r>
              <a:rPr b="1" lang="en" sz="1000">
                <a:solidFill>
                  <a:srgbClr val="000000"/>
                </a:solidFill>
              </a:rPr>
              <a:t>Story Readiness:</a:t>
            </a:r>
            <a:r>
              <a:rPr lang="en" sz="1000">
                <a:solidFill>
                  <a:srgbClr val="000000"/>
                </a:solidFill>
              </a:rPr>
              <a:t> All stories must be </a:t>
            </a:r>
            <a:r>
              <a:rPr b="1" lang="en" sz="1000">
                <a:solidFill>
                  <a:srgbClr val="000000"/>
                </a:solidFill>
              </a:rPr>
              <a:t>groomed, clearly defined, and estimated</a:t>
            </a:r>
            <a:r>
              <a:rPr lang="en" sz="1000">
                <a:solidFill>
                  <a:srgbClr val="000000"/>
                </a:solidFill>
              </a:rPr>
              <a:t> before entering a sprint.</a:t>
            </a:r>
            <a:br>
              <a:rPr lang="en" sz="1000">
                <a:solidFill>
                  <a:srgbClr val="000000"/>
                </a:solidFill>
              </a:rPr>
            </a:br>
            <a:endParaRPr sz="1000">
              <a:solidFill>
                <a:srgbClr val="000000"/>
              </a:solidFill>
            </a:endParaRPr>
          </a:p>
          <a:p>
            <a:pPr indent="-292100" lvl="0" marL="457200" rtl="0" algn="l">
              <a:lnSpc>
                <a:spcPct val="95000"/>
              </a:lnSpc>
              <a:spcBef>
                <a:spcPts val="0"/>
              </a:spcBef>
              <a:spcAft>
                <a:spcPts val="0"/>
              </a:spcAft>
              <a:buSzPts val="1000"/>
              <a:buChar char="-"/>
            </a:pPr>
            <a:r>
              <a:rPr b="1" lang="en" sz="1000">
                <a:solidFill>
                  <a:srgbClr val="000000"/>
                </a:solidFill>
              </a:rPr>
              <a:t>Story Kickoff:</a:t>
            </a:r>
            <a:r>
              <a:rPr lang="en" sz="1000">
                <a:solidFill>
                  <a:srgbClr val="000000"/>
                </a:solidFill>
              </a:rPr>
              <a:t> Each story requires a </a:t>
            </a:r>
            <a:r>
              <a:rPr b="1" lang="en" sz="1000">
                <a:solidFill>
                  <a:srgbClr val="000000"/>
                </a:solidFill>
              </a:rPr>
              <a:t>brief kickoff discussion</a:t>
            </a:r>
            <a:r>
              <a:rPr lang="en" sz="1000">
                <a:solidFill>
                  <a:srgbClr val="000000"/>
                </a:solidFill>
              </a:rPr>
              <a:t> (including 1–2 additional team members when appropriate) to confirm scope, acceptance criteria, and dependencies.</a:t>
            </a:r>
            <a:br>
              <a:rPr lang="en" sz="1000">
                <a:solidFill>
                  <a:srgbClr val="000000"/>
                </a:solidFill>
              </a:rPr>
            </a:br>
            <a:endParaRPr sz="1000">
              <a:solidFill>
                <a:srgbClr val="000000"/>
              </a:solidFill>
            </a:endParaRPr>
          </a:p>
          <a:p>
            <a:pPr indent="-292100" lvl="0" marL="457200" rtl="0" algn="l">
              <a:lnSpc>
                <a:spcPct val="95000"/>
              </a:lnSpc>
              <a:spcBef>
                <a:spcPts val="0"/>
              </a:spcBef>
              <a:spcAft>
                <a:spcPts val="0"/>
              </a:spcAft>
              <a:buSzPts val="1000"/>
              <a:buChar char="-"/>
            </a:pPr>
            <a:r>
              <a:rPr b="1" lang="en" sz="1000">
                <a:solidFill>
                  <a:srgbClr val="000000"/>
                </a:solidFill>
              </a:rPr>
              <a:t>Communication Standards:</a:t>
            </a:r>
            <a:r>
              <a:rPr lang="en" sz="1000">
                <a:solidFill>
                  <a:srgbClr val="000000"/>
                </a:solidFill>
              </a:rPr>
              <a:t> All updates, blockers, and decisions should be </a:t>
            </a:r>
            <a:r>
              <a:rPr b="1" lang="en" sz="1000">
                <a:solidFill>
                  <a:srgbClr val="000000"/>
                </a:solidFill>
              </a:rPr>
              <a:t>communicated promptly</a:t>
            </a:r>
            <a:r>
              <a:rPr lang="en" sz="1000">
                <a:solidFill>
                  <a:srgbClr val="000000"/>
                </a:solidFill>
              </a:rPr>
              <a:t> through the agreed team channels.</a:t>
            </a:r>
            <a:br>
              <a:rPr lang="en" sz="1000">
                <a:solidFill>
                  <a:srgbClr val="000000"/>
                </a:solidFill>
              </a:rPr>
            </a:br>
            <a:endParaRPr sz="1000">
              <a:solidFill>
                <a:srgbClr val="000000"/>
              </a:solidFill>
            </a:endParaRPr>
          </a:p>
          <a:p>
            <a:pPr indent="-292100" lvl="0" marL="457200" rtl="0" algn="l">
              <a:lnSpc>
                <a:spcPct val="95000"/>
              </a:lnSpc>
              <a:spcBef>
                <a:spcPts val="0"/>
              </a:spcBef>
              <a:spcAft>
                <a:spcPts val="0"/>
              </a:spcAft>
              <a:buSzPts val="1000"/>
              <a:buChar char="-"/>
            </a:pPr>
            <a:r>
              <a:rPr b="1" lang="en" sz="1000">
                <a:solidFill>
                  <a:srgbClr val="000000"/>
                </a:solidFill>
              </a:rPr>
              <a:t>Quality Expectations:</a:t>
            </a:r>
            <a:r>
              <a:rPr lang="en" sz="1000">
                <a:solidFill>
                  <a:srgbClr val="000000"/>
                </a:solidFill>
              </a:rPr>
              <a:t> Code must meet agreed standards, include basic testing where applicable, and be </a:t>
            </a:r>
            <a:r>
              <a:rPr b="1" lang="en" sz="1000">
                <a:solidFill>
                  <a:srgbClr val="000000"/>
                </a:solidFill>
              </a:rPr>
              <a:t>reviewed before completion</a:t>
            </a:r>
            <a:r>
              <a:rPr lang="en" sz="1000">
                <a:solidFill>
                  <a:srgbClr val="000000"/>
                </a:solidFill>
              </a:rPr>
              <a:t>.</a:t>
            </a:r>
            <a:br>
              <a:rPr lang="en" sz="1000">
                <a:solidFill>
                  <a:srgbClr val="000000"/>
                </a:solidFill>
              </a:rPr>
            </a:br>
            <a:endParaRPr sz="1000">
              <a:solidFill>
                <a:srgbClr val="000000"/>
              </a:solidFill>
            </a:endParaRPr>
          </a:p>
          <a:p>
            <a:pPr indent="-292100" lvl="0" marL="457200" rtl="0" algn="l">
              <a:lnSpc>
                <a:spcPct val="95000"/>
              </a:lnSpc>
              <a:spcBef>
                <a:spcPts val="0"/>
              </a:spcBef>
              <a:spcAft>
                <a:spcPts val="0"/>
              </a:spcAft>
              <a:buSzPts val="1000"/>
              <a:buChar char="-"/>
            </a:pPr>
            <a:r>
              <a:rPr b="1" lang="en" sz="1000">
                <a:solidFill>
                  <a:srgbClr val="000000"/>
                </a:solidFill>
              </a:rPr>
              <a:t>Respect &amp; Collaboration:</a:t>
            </a:r>
            <a:r>
              <a:rPr lang="en" sz="1000">
                <a:solidFill>
                  <a:srgbClr val="000000"/>
                </a:solidFill>
              </a:rPr>
              <a:t> Team members are expected to communicate respectfully, support one another, and maintain a solution-oriented mindset.</a:t>
            </a:r>
            <a:endParaRPr sz="10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19"/>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3300">
                <a:latin typeface="Calibri"/>
                <a:ea typeface="Calibri"/>
                <a:cs typeface="Calibri"/>
                <a:sym typeface="Calibri"/>
              </a:rPr>
              <a:t>Primary</a:t>
            </a:r>
            <a:r>
              <a:rPr lang="en" sz="3300">
                <a:latin typeface="Calibri"/>
                <a:ea typeface="Calibri"/>
                <a:cs typeface="Calibri"/>
                <a:sym typeface="Calibri"/>
              </a:rPr>
              <a:t> User : DJ Two Tone</a:t>
            </a:r>
            <a:r>
              <a:rPr lang="en"/>
              <a:t> </a:t>
            </a:r>
            <a:endParaRPr/>
          </a:p>
        </p:txBody>
      </p:sp>
      <p:sp>
        <p:nvSpPr>
          <p:cNvPr id="178" name="Google Shape;178;p19"/>
          <p:cNvSpPr txBox="1"/>
          <p:nvPr>
            <p:ph idx="1" type="body"/>
          </p:nvPr>
        </p:nvSpPr>
        <p:spPr>
          <a:xfrm>
            <a:off x="819150" y="1990725"/>
            <a:ext cx="7505700" cy="2448000"/>
          </a:xfrm>
          <a:prstGeom prst="rect">
            <a:avLst/>
          </a:prstGeom>
        </p:spPr>
        <p:txBody>
          <a:bodyPr anchorCtr="0" anchor="t" bIns="91425" lIns="91425" spcFirstLastPara="1" rIns="91425" wrap="square" tIns="91425">
            <a:normAutofit fontScale="62500" lnSpcReduction="20000"/>
          </a:bodyPr>
          <a:lstStyle/>
          <a:p>
            <a:pPr indent="-284162" lvl="0" marL="457200" rtl="0" algn="l">
              <a:spcBef>
                <a:spcPts val="0"/>
              </a:spcBef>
              <a:spcAft>
                <a:spcPts val="0"/>
              </a:spcAft>
              <a:buSzPct val="87500"/>
              <a:buChar char="●"/>
            </a:pPr>
            <a:r>
              <a:rPr lang="en" sz="1600">
                <a:solidFill>
                  <a:srgbClr val="000000"/>
                </a:solidFill>
              </a:rPr>
              <a:t>Age, 23 </a:t>
            </a:r>
            <a:br>
              <a:rPr lang="en" sz="1600">
                <a:solidFill>
                  <a:srgbClr val="000000"/>
                </a:solidFill>
              </a:rPr>
            </a:br>
            <a:r>
              <a:rPr lang="en" sz="1600">
                <a:solidFill>
                  <a:srgbClr val="000000"/>
                </a:solidFill>
              </a:rPr>
              <a:t>Gender : Male</a:t>
            </a:r>
            <a:br>
              <a:rPr lang="en" sz="1600">
                <a:solidFill>
                  <a:srgbClr val="000000"/>
                </a:solidFill>
              </a:rPr>
            </a:br>
            <a:r>
              <a:rPr lang="en" sz="1600">
                <a:solidFill>
                  <a:srgbClr val="000000"/>
                </a:solidFill>
              </a:rPr>
              <a:t>Location : New York </a:t>
            </a:r>
            <a:br>
              <a:rPr lang="en" sz="1600">
                <a:solidFill>
                  <a:srgbClr val="000000"/>
                </a:solidFill>
              </a:rPr>
            </a:br>
            <a:r>
              <a:rPr lang="en" sz="1600">
                <a:solidFill>
                  <a:srgbClr val="000000"/>
                </a:solidFill>
              </a:rPr>
              <a:t>Occupation: DJ</a:t>
            </a:r>
            <a:br>
              <a:rPr lang="en" sz="1400"/>
            </a:br>
            <a:endParaRPr sz="1400"/>
          </a:p>
          <a:p>
            <a:pPr indent="-284162" lvl="0" marL="457200" rtl="0" algn="l">
              <a:spcBef>
                <a:spcPts val="0"/>
              </a:spcBef>
              <a:spcAft>
                <a:spcPts val="0"/>
              </a:spcAft>
              <a:buSzPct val="87500"/>
              <a:buChar char="●"/>
            </a:pPr>
            <a:r>
              <a:rPr lang="en" sz="1600">
                <a:solidFill>
                  <a:srgbClr val="000000"/>
                </a:solidFill>
              </a:rPr>
              <a:t>DJ Two Tone is a local DJ who performs at clubs and parties. While he often mixes popular, well-known tracks into his sets, he’s now looking to incorporate more local cultural music genres to create unique experiences that celebrate the community and connect audiences with the sounds of their own scene.</a:t>
            </a:r>
            <a:br>
              <a:rPr lang="en" sz="1600">
                <a:solidFill>
                  <a:srgbClr val="000000"/>
                </a:solidFill>
              </a:rPr>
            </a:br>
            <a:endParaRPr sz="1400"/>
          </a:p>
          <a:p>
            <a:pPr indent="-292100" lvl="0" marL="457200" rtl="0" algn="l">
              <a:spcBef>
                <a:spcPts val="0"/>
              </a:spcBef>
              <a:spcAft>
                <a:spcPts val="0"/>
              </a:spcAft>
              <a:buSzPct val="100000"/>
              <a:buChar char="●"/>
            </a:pPr>
            <a:r>
              <a:rPr b="1" lang="en" sz="1600">
                <a:solidFill>
                  <a:srgbClr val="000000"/>
                </a:solidFill>
              </a:rPr>
              <a:t>Issue:</a:t>
            </a:r>
            <a:r>
              <a:rPr lang="en" sz="1600">
                <a:solidFill>
                  <a:srgbClr val="000000"/>
                </a:solidFill>
              </a:rPr>
              <a:t> Difficulty accessing and integrating unfamiliar cultural music genres—such as Jakarta folk—into performance sets, requiring extensive independent research through scattered sources like record stores, forums, and music databases.</a:t>
            </a:r>
            <a:br>
              <a:rPr lang="en" sz="1600">
                <a:solidFill>
                  <a:srgbClr val="000000"/>
                </a:solidFill>
              </a:rPr>
            </a:br>
            <a:endParaRPr sz="1600">
              <a:solidFill>
                <a:srgbClr val="000000"/>
              </a:solidFill>
            </a:endParaRPr>
          </a:p>
          <a:p>
            <a:pPr indent="-292100" lvl="0" marL="457200" rtl="0" algn="l">
              <a:spcBef>
                <a:spcPts val="0"/>
              </a:spcBef>
              <a:spcAft>
                <a:spcPts val="0"/>
              </a:spcAft>
              <a:buSzPct val="100000"/>
              <a:buChar char="●"/>
            </a:pPr>
            <a:r>
              <a:rPr b="1" lang="en" sz="1600">
                <a:solidFill>
                  <a:srgbClr val="000000"/>
                </a:solidFill>
              </a:rPr>
              <a:t>Solution:</a:t>
            </a:r>
            <a:r>
              <a:rPr lang="en" sz="1600">
                <a:solidFill>
                  <a:srgbClr val="000000"/>
                </a:solidFill>
              </a:rPr>
              <a:t> The platform enables DJs and creators to easily discover and explore local and niche genres by searching specific locations and styles (e.g., Jakarta + Folk Music), instantly connecting them with relevant artists, bands, and tracks to blend seamlessly with their own sets.</a:t>
            </a:r>
            <a:endParaRPr b="1" sz="1400">
              <a:solidFill>
                <a:srgbClr val="000000"/>
              </a:solidFill>
            </a:endParaRPr>
          </a:p>
        </p:txBody>
      </p:sp>
      <p:pic>
        <p:nvPicPr>
          <p:cNvPr id="179" name="Google Shape;179;p19"/>
          <p:cNvPicPr preferRelativeResize="0"/>
          <p:nvPr/>
        </p:nvPicPr>
        <p:blipFill>
          <a:blip r:embed="rId3">
            <a:alphaModFix/>
          </a:blip>
          <a:stretch>
            <a:fillRect/>
          </a:stretch>
        </p:blipFill>
        <p:spPr>
          <a:xfrm>
            <a:off x="5746725" y="799238"/>
            <a:ext cx="2361026" cy="15740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20"/>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3300">
                <a:latin typeface="Calibri"/>
                <a:ea typeface="Calibri"/>
                <a:cs typeface="Calibri"/>
                <a:sym typeface="Calibri"/>
              </a:rPr>
              <a:t>Primary User 2 : Tobi</a:t>
            </a:r>
            <a:endParaRPr sz="3300">
              <a:latin typeface="Calibri"/>
              <a:ea typeface="Calibri"/>
              <a:cs typeface="Calibri"/>
              <a:sym typeface="Calibri"/>
            </a:endParaRPr>
          </a:p>
        </p:txBody>
      </p:sp>
      <p:sp>
        <p:nvSpPr>
          <p:cNvPr id="185" name="Google Shape;185;p20"/>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292100" lvl="0" marL="457200" rtl="0" algn="l">
              <a:spcBef>
                <a:spcPts val="0"/>
              </a:spcBef>
              <a:spcAft>
                <a:spcPts val="0"/>
              </a:spcAft>
              <a:buSzPts val="1000"/>
              <a:buChar char="●"/>
            </a:pPr>
            <a:r>
              <a:rPr lang="en" sz="1000">
                <a:solidFill>
                  <a:srgbClr val="000000"/>
                </a:solidFill>
              </a:rPr>
              <a:t>Age, 29 </a:t>
            </a:r>
            <a:br>
              <a:rPr lang="en" sz="1000">
                <a:solidFill>
                  <a:srgbClr val="000000"/>
                </a:solidFill>
              </a:rPr>
            </a:br>
            <a:r>
              <a:rPr lang="en" sz="1000">
                <a:solidFill>
                  <a:srgbClr val="000000"/>
                </a:solidFill>
              </a:rPr>
              <a:t>Gender: Male </a:t>
            </a:r>
            <a:br>
              <a:rPr lang="en" sz="1000">
                <a:solidFill>
                  <a:srgbClr val="000000"/>
                </a:solidFill>
              </a:rPr>
            </a:br>
            <a:r>
              <a:rPr lang="en" sz="1000">
                <a:solidFill>
                  <a:srgbClr val="000000"/>
                </a:solidFill>
              </a:rPr>
              <a:t>Location : West Nyack, NY</a:t>
            </a:r>
            <a:br>
              <a:rPr lang="en" sz="1000">
                <a:solidFill>
                  <a:srgbClr val="000000"/>
                </a:solidFill>
              </a:rPr>
            </a:br>
            <a:r>
              <a:rPr lang="en" sz="1000">
                <a:solidFill>
                  <a:srgbClr val="000000"/>
                </a:solidFill>
              </a:rPr>
              <a:t>Occupation: Musician</a:t>
            </a:r>
            <a:br>
              <a:rPr lang="en" sz="1000">
                <a:solidFill>
                  <a:srgbClr val="000000"/>
                </a:solidFill>
              </a:rPr>
            </a:br>
            <a:endParaRPr sz="1000">
              <a:solidFill>
                <a:srgbClr val="000000"/>
              </a:solidFill>
            </a:endParaRPr>
          </a:p>
          <a:p>
            <a:pPr indent="-292100" lvl="0" marL="457200" rtl="0" algn="l">
              <a:spcBef>
                <a:spcPts val="0"/>
              </a:spcBef>
              <a:spcAft>
                <a:spcPts val="0"/>
              </a:spcAft>
              <a:buSzPts val="1000"/>
              <a:buChar char="●"/>
            </a:pPr>
            <a:r>
              <a:rPr lang="en" sz="1000">
                <a:solidFill>
                  <a:srgbClr val="000000"/>
                </a:solidFill>
              </a:rPr>
              <a:t>Tobi is a musician</a:t>
            </a:r>
            <a:r>
              <a:rPr lang="en" sz="1000">
                <a:solidFill>
                  <a:srgbClr val="000000"/>
                </a:solidFill>
              </a:rPr>
              <a:t> looking for his big break into the music industry</a:t>
            </a:r>
            <a:r>
              <a:rPr lang="en" sz="1000">
                <a:solidFill>
                  <a:srgbClr val="000000"/>
                </a:solidFill>
              </a:rPr>
              <a:t>. He plans on starting in the local scene to build his experience and connections in the industry.</a:t>
            </a:r>
            <a:br>
              <a:rPr lang="en" sz="1000"/>
            </a:br>
            <a:endParaRPr sz="1000"/>
          </a:p>
          <a:p>
            <a:pPr indent="-292100" lvl="0" marL="457200" rtl="0" algn="l">
              <a:spcBef>
                <a:spcPts val="0"/>
              </a:spcBef>
              <a:spcAft>
                <a:spcPts val="0"/>
              </a:spcAft>
              <a:buSzPts val="1000"/>
              <a:buChar char="●"/>
            </a:pPr>
            <a:r>
              <a:rPr b="1" lang="en" sz="1000">
                <a:solidFill>
                  <a:srgbClr val="000000"/>
                </a:solidFill>
              </a:rPr>
              <a:t>Issue:</a:t>
            </a:r>
            <a:r>
              <a:rPr lang="en" sz="1000">
                <a:solidFill>
                  <a:srgbClr val="000000"/>
                </a:solidFill>
              </a:rPr>
              <a:t> Music creators face barriers in networking, collaboration, and expanding their creative expertise, limiting growth and visibility.</a:t>
            </a:r>
            <a:br>
              <a:rPr lang="en" sz="1000">
                <a:solidFill>
                  <a:srgbClr val="000000"/>
                </a:solidFill>
              </a:rPr>
            </a:br>
            <a:endParaRPr sz="1000">
              <a:solidFill>
                <a:srgbClr val="000000"/>
              </a:solidFill>
            </a:endParaRPr>
          </a:p>
          <a:p>
            <a:pPr indent="-292100" lvl="0" marL="457200" rtl="0" algn="l">
              <a:spcBef>
                <a:spcPts val="0"/>
              </a:spcBef>
              <a:spcAft>
                <a:spcPts val="0"/>
              </a:spcAft>
              <a:buSzPts val="1000"/>
              <a:buChar char="●"/>
            </a:pPr>
            <a:r>
              <a:rPr b="1" lang="en" sz="1000">
                <a:solidFill>
                  <a:srgbClr val="000000"/>
                </a:solidFill>
              </a:rPr>
              <a:t>Solution:</a:t>
            </a:r>
            <a:r>
              <a:rPr lang="en" sz="1000">
                <a:solidFill>
                  <a:srgbClr val="000000"/>
                </a:solidFill>
              </a:rPr>
              <a:t> Our platform empowers creators by fostering meaningful connections, driving community-driven promotion, and offering tools and resources to continuously expand their skill set.</a:t>
            </a:r>
            <a:endParaRPr sz="1000"/>
          </a:p>
        </p:txBody>
      </p:sp>
      <p:pic>
        <p:nvPicPr>
          <p:cNvPr id="186" name="Google Shape;186;p20"/>
          <p:cNvPicPr preferRelativeResize="0"/>
          <p:nvPr/>
        </p:nvPicPr>
        <p:blipFill>
          <a:blip r:embed="rId3">
            <a:alphaModFix/>
          </a:blip>
          <a:stretch>
            <a:fillRect/>
          </a:stretch>
        </p:blipFill>
        <p:spPr>
          <a:xfrm>
            <a:off x="5619800" y="552975"/>
            <a:ext cx="2424474" cy="20865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21"/>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3300">
                <a:latin typeface="Calibri"/>
                <a:ea typeface="Calibri"/>
                <a:cs typeface="Calibri"/>
                <a:sym typeface="Calibri"/>
              </a:rPr>
              <a:t>Primary User 3: Glenn</a:t>
            </a:r>
            <a:endParaRPr sz="3300">
              <a:latin typeface="Calibri"/>
              <a:ea typeface="Calibri"/>
              <a:cs typeface="Calibri"/>
              <a:sym typeface="Calibri"/>
            </a:endParaRPr>
          </a:p>
        </p:txBody>
      </p:sp>
      <p:sp>
        <p:nvSpPr>
          <p:cNvPr id="192" name="Google Shape;192;p21"/>
          <p:cNvSpPr txBox="1"/>
          <p:nvPr>
            <p:ph idx="1" type="body"/>
          </p:nvPr>
        </p:nvSpPr>
        <p:spPr>
          <a:xfrm>
            <a:off x="819150" y="1990725"/>
            <a:ext cx="7505700" cy="2448000"/>
          </a:xfrm>
          <a:prstGeom prst="rect">
            <a:avLst/>
          </a:prstGeom>
        </p:spPr>
        <p:txBody>
          <a:bodyPr anchorCtr="0" anchor="t" bIns="91425" lIns="91425" spcFirstLastPara="1" rIns="91425" wrap="square" tIns="91425">
            <a:normAutofit fontScale="25000" lnSpcReduction="20000"/>
          </a:bodyPr>
          <a:lstStyle/>
          <a:p>
            <a:pPr indent="-292100" lvl="0" marL="457200" rtl="0" algn="l">
              <a:spcBef>
                <a:spcPts val="0"/>
              </a:spcBef>
              <a:spcAft>
                <a:spcPts val="0"/>
              </a:spcAft>
              <a:buSzPct val="100000"/>
              <a:buChar char="●"/>
            </a:pPr>
            <a:r>
              <a:rPr lang="en" sz="4000">
                <a:solidFill>
                  <a:srgbClr val="000000"/>
                </a:solidFill>
              </a:rPr>
              <a:t>Age, 58 </a:t>
            </a:r>
            <a:br>
              <a:rPr lang="en" sz="4000">
                <a:solidFill>
                  <a:srgbClr val="000000"/>
                </a:solidFill>
              </a:rPr>
            </a:br>
            <a:r>
              <a:rPr lang="en" sz="4000">
                <a:solidFill>
                  <a:srgbClr val="000000"/>
                </a:solidFill>
              </a:rPr>
              <a:t>Gender : Male </a:t>
            </a:r>
            <a:br>
              <a:rPr lang="en" sz="4000">
                <a:solidFill>
                  <a:srgbClr val="000000"/>
                </a:solidFill>
              </a:rPr>
            </a:br>
            <a:r>
              <a:rPr lang="en" sz="4000">
                <a:solidFill>
                  <a:srgbClr val="000000"/>
                </a:solidFill>
              </a:rPr>
              <a:t>Location : Chattanooga, TN</a:t>
            </a:r>
            <a:br>
              <a:rPr lang="en" sz="4000">
                <a:solidFill>
                  <a:srgbClr val="000000"/>
                </a:solidFill>
              </a:rPr>
            </a:br>
            <a:r>
              <a:rPr lang="en" sz="4000">
                <a:solidFill>
                  <a:srgbClr val="000000"/>
                </a:solidFill>
              </a:rPr>
              <a:t>Occupation: Store Manager</a:t>
            </a:r>
            <a:br>
              <a:rPr lang="en" sz="4000">
                <a:solidFill>
                  <a:srgbClr val="000000"/>
                </a:solidFill>
              </a:rPr>
            </a:br>
            <a:endParaRPr sz="4000">
              <a:solidFill>
                <a:srgbClr val="000000"/>
              </a:solidFill>
            </a:endParaRPr>
          </a:p>
          <a:p>
            <a:pPr indent="-292100" lvl="0" marL="457200" rtl="0" algn="l">
              <a:spcBef>
                <a:spcPts val="0"/>
              </a:spcBef>
              <a:spcAft>
                <a:spcPts val="0"/>
              </a:spcAft>
              <a:buSzPct val="100000"/>
              <a:buChar char="●"/>
            </a:pPr>
            <a:r>
              <a:rPr lang="en" sz="4000">
                <a:solidFill>
                  <a:srgbClr val="000000"/>
                </a:solidFill>
              </a:rPr>
              <a:t>Glenn is a store manager that often listens to music in his spare time. He uses apps like Spotify and Apple Music to listen to his preferred music and popular music of today. He wants to immerse himself in new music by discovering new artists locally.</a:t>
            </a:r>
            <a:br>
              <a:rPr lang="en" sz="4000"/>
            </a:br>
            <a:endParaRPr sz="4000"/>
          </a:p>
          <a:p>
            <a:pPr indent="-292100" lvl="0" marL="457200" rtl="0" algn="l">
              <a:spcBef>
                <a:spcPts val="0"/>
              </a:spcBef>
              <a:spcAft>
                <a:spcPts val="0"/>
              </a:spcAft>
              <a:buSzPct val="100000"/>
              <a:buChar char="●"/>
            </a:pPr>
            <a:r>
              <a:rPr b="1" lang="en" sz="4000">
                <a:solidFill>
                  <a:srgbClr val="000000"/>
                </a:solidFill>
              </a:rPr>
              <a:t>Issue: </a:t>
            </a:r>
            <a:r>
              <a:rPr lang="en" sz="4000">
                <a:solidFill>
                  <a:srgbClr val="000000"/>
                </a:solidFill>
              </a:rPr>
              <a:t>As a music fan, it can be hard to discover new local performers beyond the big-name acts. Relying on word of mouth or chance encounters often means missing out on fresh talent, especially younger or emerging artists who aren’t promoted widely.</a:t>
            </a:r>
            <a:br>
              <a:rPr b="1" lang="en" sz="4000">
                <a:solidFill>
                  <a:srgbClr val="000000"/>
                </a:solidFill>
              </a:rPr>
            </a:br>
            <a:endParaRPr b="1" sz="4000">
              <a:solidFill>
                <a:srgbClr val="000000"/>
              </a:solidFill>
            </a:endParaRPr>
          </a:p>
          <a:p>
            <a:pPr indent="-292100" lvl="0" marL="457200" rtl="0" algn="l">
              <a:spcBef>
                <a:spcPts val="0"/>
              </a:spcBef>
              <a:spcAft>
                <a:spcPts val="0"/>
              </a:spcAft>
              <a:buSzPct val="100000"/>
              <a:buChar char="●"/>
            </a:pPr>
            <a:r>
              <a:rPr b="1" lang="en" sz="4000">
                <a:solidFill>
                  <a:srgbClr val="000000"/>
                </a:solidFill>
              </a:rPr>
              <a:t>Solution:</a:t>
            </a:r>
            <a:r>
              <a:rPr lang="en" sz="4000">
                <a:solidFill>
                  <a:srgbClr val="000000"/>
                </a:solidFill>
              </a:rPr>
              <a:t> The platform makes it easy for fans to discover new and local artists tailored to their tastes. By combining personal preferences with location-based recommendations, fans can explore performers they might not otherwise find—helping them connect with fresh music while supporting their local scene.</a:t>
            </a:r>
            <a:endParaRPr sz="4000">
              <a:solidFill>
                <a:srgbClr val="000000"/>
              </a:solidFill>
            </a:endParaRPr>
          </a:p>
          <a:p>
            <a:pPr indent="0" lvl="0" marL="457200" rtl="0" algn="l">
              <a:spcBef>
                <a:spcPts val="1200"/>
              </a:spcBef>
              <a:spcAft>
                <a:spcPts val="0"/>
              </a:spcAft>
              <a:buNone/>
            </a:pPr>
            <a:r>
              <a:t/>
            </a:r>
            <a:endParaRPr b="1" sz="1400">
              <a:solidFill>
                <a:srgbClr val="000000"/>
              </a:solidFill>
            </a:endParaRPr>
          </a:p>
          <a:p>
            <a:pPr indent="0" lvl="0" marL="0" rtl="0" algn="l">
              <a:spcBef>
                <a:spcPts val="1200"/>
              </a:spcBef>
              <a:spcAft>
                <a:spcPts val="1200"/>
              </a:spcAft>
              <a:buNone/>
            </a:pPr>
            <a:r>
              <a:t/>
            </a:r>
            <a:endParaRPr/>
          </a:p>
        </p:txBody>
      </p:sp>
      <p:pic>
        <p:nvPicPr>
          <p:cNvPr id="193" name="Google Shape;193;p21"/>
          <p:cNvPicPr preferRelativeResize="0"/>
          <p:nvPr/>
        </p:nvPicPr>
        <p:blipFill>
          <a:blip r:embed="rId3">
            <a:alphaModFix/>
          </a:blip>
          <a:stretch>
            <a:fillRect/>
          </a:stretch>
        </p:blipFill>
        <p:spPr>
          <a:xfrm>
            <a:off x="5742950" y="804838"/>
            <a:ext cx="2343075" cy="156282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22"/>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3300">
                <a:latin typeface="Calibri"/>
                <a:ea typeface="Calibri"/>
                <a:cs typeface="Calibri"/>
                <a:sym typeface="Calibri"/>
              </a:rPr>
              <a:t>MVP Feature Prioritization</a:t>
            </a:r>
            <a:endParaRPr sz="3300">
              <a:latin typeface="Calibri"/>
              <a:ea typeface="Calibri"/>
              <a:cs typeface="Calibri"/>
              <a:sym typeface="Calibri"/>
            </a:endParaRPr>
          </a:p>
        </p:txBody>
      </p:sp>
      <p:sp>
        <p:nvSpPr>
          <p:cNvPr id="199" name="Google Shape;199;p22"/>
          <p:cNvSpPr txBox="1"/>
          <p:nvPr>
            <p:ph idx="1" type="body"/>
          </p:nvPr>
        </p:nvSpPr>
        <p:spPr>
          <a:xfrm>
            <a:off x="727650" y="1800200"/>
            <a:ext cx="7688700" cy="2569500"/>
          </a:xfrm>
          <a:prstGeom prst="rect">
            <a:avLst/>
          </a:prstGeom>
        </p:spPr>
        <p:txBody>
          <a:bodyPr anchorCtr="0" anchor="t" bIns="91425" lIns="91425" spcFirstLastPara="1" rIns="91425" wrap="square" tIns="91425">
            <a:noAutofit/>
          </a:bodyPr>
          <a:lstStyle/>
          <a:p>
            <a:pPr indent="-311150" lvl="0" marL="457200" rtl="0" algn="l">
              <a:lnSpc>
                <a:spcPct val="95000"/>
              </a:lnSpc>
              <a:spcBef>
                <a:spcPts val="1200"/>
              </a:spcBef>
              <a:spcAft>
                <a:spcPts val="0"/>
              </a:spcAft>
              <a:buClr>
                <a:srgbClr val="000000"/>
              </a:buClr>
              <a:buSzPts val="1300"/>
              <a:buFont typeface="Arial"/>
              <a:buChar char="●"/>
            </a:pPr>
            <a:r>
              <a:rPr b="1" lang="en">
                <a:solidFill>
                  <a:srgbClr val="000000"/>
                </a:solidFill>
              </a:rPr>
              <a:t>Feature Name:</a:t>
            </a:r>
            <a:r>
              <a:rPr lang="en">
                <a:solidFill>
                  <a:srgbClr val="000000"/>
                </a:solidFill>
              </a:rPr>
              <a:t> Location and Genre Based Search</a:t>
            </a:r>
            <a:br>
              <a:rPr lang="en">
                <a:solidFill>
                  <a:srgbClr val="000000"/>
                </a:solidFill>
              </a:rPr>
            </a:br>
            <a:endParaRPr>
              <a:solidFill>
                <a:srgbClr val="000000"/>
              </a:solidFill>
            </a:endParaRPr>
          </a:p>
          <a:p>
            <a:pPr indent="-311150" lvl="1" marL="914400" rtl="0" algn="l">
              <a:lnSpc>
                <a:spcPct val="95000"/>
              </a:lnSpc>
              <a:spcBef>
                <a:spcPts val="0"/>
              </a:spcBef>
              <a:spcAft>
                <a:spcPts val="0"/>
              </a:spcAft>
              <a:buClr>
                <a:srgbClr val="000000"/>
              </a:buClr>
              <a:buSzPts val="1300"/>
              <a:buChar char="○"/>
            </a:pPr>
            <a:r>
              <a:rPr lang="en" sz="1300">
                <a:solidFill>
                  <a:srgbClr val="000000"/>
                </a:solidFill>
              </a:rPr>
              <a:t>Purpose: Searching Capabilities for Music Artist</a:t>
            </a:r>
            <a:endParaRPr sz="1300">
              <a:solidFill>
                <a:srgbClr val="000000"/>
              </a:solidFill>
            </a:endParaRPr>
          </a:p>
          <a:p>
            <a:pPr indent="-311150" lvl="1" marL="914400" rtl="0" algn="l">
              <a:lnSpc>
                <a:spcPct val="95000"/>
              </a:lnSpc>
              <a:spcBef>
                <a:spcPts val="0"/>
              </a:spcBef>
              <a:spcAft>
                <a:spcPts val="0"/>
              </a:spcAft>
              <a:buClr>
                <a:srgbClr val="000000"/>
              </a:buClr>
              <a:buSzPts val="1300"/>
              <a:buChar char="○"/>
            </a:pPr>
            <a:r>
              <a:rPr lang="en" sz="1300">
                <a:solidFill>
                  <a:srgbClr val="000000"/>
                </a:solidFill>
              </a:rPr>
              <a:t>User story: As a User, I want to search for artists using a specific location and music genre, so that when I complete the search, I’m provided with a list of artists who are from that location and perform that genre. </a:t>
            </a:r>
            <a:br>
              <a:rPr lang="en" sz="1300">
                <a:solidFill>
                  <a:srgbClr val="000000"/>
                </a:solidFill>
              </a:rPr>
            </a:br>
            <a:endParaRPr sz="1300">
              <a:solidFill>
                <a:srgbClr val="000000"/>
              </a:solidFill>
            </a:endParaRPr>
          </a:p>
          <a:p>
            <a:pPr indent="-311150" lvl="0" marL="457200" rtl="0" algn="l">
              <a:lnSpc>
                <a:spcPct val="95000"/>
              </a:lnSpc>
              <a:spcBef>
                <a:spcPts val="0"/>
              </a:spcBef>
              <a:spcAft>
                <a:spcPts val="0"/>
              </a:spcAft>
              <a:buClr>
                <a:srgbClr val="000000"/>
              </a:buClr>
              <a:buSzPts val="1300"/>
              <a:buFont typeface="Arial"/>
              <a:buChar char="●"/>
            </a:pPr>
            <a:r>
              <a:rPr b="1" lang="en">
                <a:solidFill>
                  <a:srgbClr val="000000"/>
                </a:solidFill>
              </a:rPr>
              <a:t>Feature Name:</a:t>
            </a:r>
            <a:r>
              <a:rPr lang="en">
                <a:solidFill>
                  <a:srgbClr val="000000"/>
                </a:solidFill>
              </a:rPr>
              <a:t> Artist Music Listing</a:t>
            </a:r>
            <a:br>
              <a:rPr lang="en">
                <a:solidFill>
                  <a:srgbClr val="000000"/>
                </a:solidFill>
              </a:rPr>
            </a:br>
            <a:endParaRPr>
              <a:solidFill>
                <a:srgbClr val="000000"/>
              </a:solidFill>
            </a:endParaRPr>
          </a:p>
          <a:p>
            <a:pPr indent="-311150" lvl="1" marL="914400" rtl="0" algn="l">
              <a:lnSpc>
                <a:spcPct val="95000"/>
              </a:lnSpc>
              <a:spcBef>
                <a:spcPts val="0"/>
              </a:spcBef>
              <a:spcAft>
                <a:spcPts val="0"/>
              </a:spcAft>
              <a:buClr>
                <a:srgbClr val="000000"/>
              </a:buClr>
              <a:buSzPts val="1300"/>
              <a:buChar char="○"/>
            </a:pPr>
            <a:r>
              <a:rPr lang="en" sz="1300">
                <a:solidFill>
                  <a:srgbClr val="000000"/>
                </a:solidFill>
              </a:rPr>
              <a:t>Purpose: Provide Artist Music Collection</a:t>
            </a:r>
            <a:endParaRPr sz="1300">
              <a:solidFill>
                <a:srgbClr val="000000"/>
              </a:solidFill>
            </a:endParaRPr>
          </a:p>
          <a:p>
            <a:pPr indent="-311150" lvl="1" marL="914400" rtl="0" algn="l">
              <a:lnSpc>
                <a:spcPct val="95000"/>
              </a:lnSpc>
              <a:spcBef>
                <a:spcPts val="0"/>
              </a:spcBef>
              <a:spcAft>
                <a:spcPts val="0"/>
              </a:spcAft>
              <a:buClr>
                <a:srgbClr val="000000"/>
              </a:buClr>
              <a:buSzPts val="1300"/>
              <a:buChar char="○"/>
            </a:pPr>
            <a:r>
              <a:rPr lang="en" sz="1300">
                <a:solidFill>
                  <a:srgbClr val="000000"/>
                </a:solidFill>
              </a:rPr>
              <a:t>User story: As a User, when I search an artist using the application, I want to be able to click on an artist, so that I can see their discography</a:t>
            </a:r>
            <a:br>
              <a:rPr lang="en" sz="1300">
                <a:solidFill>
                  <a:srgbClr val="000000"/>
                </a:solidFill>
              </a:rPr>
            </a:br>
            <a:endParaRPr sz="13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23"/>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3300">
                <a:latin typeface="Calibri"/>
                <a:ea typeface="Calibri"/>
                <a:cs typeface="Calibri"/>
                <a:sym typeface="Calibri"/>
              </a:rPr>
              <a:t>Algorithms:</a:t>
            </a:r>
            <a:endParaRPr sz="3300">
              <a:latin typeface="Calibri"/>
              <a:ea typeface="Calibri"/>
              <a:cs typeface="Calibri"/>
              <a:sym typeface="Calibri"/>
            </a:endParaRPr>
          </a:p>
        </p:txBody>
      </p:sp>
      <p:sp>
        <p:nvSpPr>
          <p:cNvPr id="205" name="Google Shape;205;p23"/>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t>Entity Resolution / Deduplication</a:t>
            </a:r>
            <a:r>
              <a:rPr lang="en"/>
              <a:t>: cleaning and removing dupes from our corpus of data</a:t>
            </a:r>
            <a:endParaRPr/>
          </a:p>
          <a:p>
            <a:pPr indent="0" lvl="0" marL="0" rtl="0" algn="l">
              <a:spcBef>
                <a:spcPts val="1200"/>
              </a:spcBef>
              <a:spcAft>
                <a:spcPts val="0"/>
              </a:spcAft>
              <a:buNone/>
            </a:pPr>
            <a:r>
              <a:rPr b="1" lang="en"/>
              <a:t>Hybrid Ranking (RRF)</a:t>
            </a:r>
            <a:r>
              <a:rPr lang="en"/>
              <a:t>: merging tables of similar genres on location proximity and popularity</a:t>
            </a:r>
            <a:endParaRPr/>
          </a:p>
          <a:p>
            <a:pPr indent="0" lvl="0" marL="0" rtl="0" algn="l">
              <a:spcBef>
                <a:spcPts val="1200"/>
              </a:spcBef>
              <a:spcAft>
                <a:spcPts val="0"/>
              </a:spcAft>
              <a:buNone/>
            </a:pPr>
            <a:r>
              <a:rPr b="1" lang="en"/>
              <a:t>Inverted Index</a:t>
            </a:r>
            <a:r>
              <a:rPr lang="en"/>
              <a:t>: classic search engine implementation, used to search for band name, genre, location, and/or description</a:t>
            </a:r>
            <a:endParaRPr/>
          </a:p>
          <a:p>
            <a:pPr indent="0" lvl="0" marL="0" rtl="0" algn="l">
              <a:spcBef>
                <a:spcPts val="1200"/>
              </a:spcBef>
              <a:spcAft>
                <a:spcPts val="1200"/>
              </a:spcAft>
              <a:buNone/>
            </a:pPr>
            <a:r>
              <a:rPr b="1" lang="en"/>
              <a:t>Haversine Distance</a:t>
            </a:r>
            <a:r>
              <a:rPr lang="en"/>
              <a:t>: used to calculate the distance between a user and the known location of an artist to give them </a:t>
            </a:r>
            <a:r>
              <a:rPr lang="en"/>
              <a:t>locally</a:t>
            </a:r>
            <a:r>
              <a:rPr lang="en"/>
              <a:t> tailored results</a:t>
            </a:r>
            <a:endParaRPr/>
          </a:p>
        </p:txBody>
      </p:sp>
      <p:sp>
        <p:nvSpPr>
          <p:cNvPr id="206" name="Google Shape;206;p23"/>
          <p:cNvSpPr txBox="1"/>
          <p:nvPr/>
        </p:nvSpPr>
        <p:spPr>
          <a:xfrm>
            <a:off x="8229600" y="307425"/>
            <a:ext cx="9144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solidFill>
                  <a:schemeClr val="dk2"/>
                </a:solidFill>
                <a:latin typeface="Calibri"/>
                <a:ea typeface="Calibri"/>
                <a:cs typeface="Calibri"/>
                <a:sym typeface="Calibri"/>
              </a:rPr>
              <a:t>CM</a:t>
            </a:r>
            <a:endParaRPr sz="1300">
              <a:solidFill>
                <a:schemeClr val="dk2"/>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24"/>
          <p:cNvSpPr txBox="1"/>
          <p:nvPr>
            <p:ph type="title"/>
          </p:nvPr>
        </p:nvSpPr>
        <p:spPr>
          <a:xfrm>
            <a:off x="485950" y="331625"/>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3300">
                <a:latin typeface="Calibri"/>
                <a:ea typeface="Calibri"/>
                <a:cs typeface="Calibri"/>
                <a:sym typeface="Calibri"/>
              </a:rPr>
              <a:t>Architecture</a:t>
            </a:r>
            <a:r>
              <a:rPr lang="en" sz="3300">
                <a:latin typeface="Calibri"/>
                <a:ea typeface="Calibri"/>
                <a:cs typeface="Calibri"/>
                <a:sym typeface="Calibri"/>
              </a:rPr>
              <a:t> Diagram</a:t>
            </a:r>
            <a:endParaRPr sz="3300">
              <a:latin typeface="Calibri"/>
              <a:ea typeface="Calibri"/>
              <a:cs typeface="Calibri"/>
              <a:sym typeface="Calibri"/>
            </a:endParaRPr>
          </a:p>
        </p:txBody>
      </p:sp>
      <p:pic>
        <p:nvPicPr>
          <p:cNvPr id="212" name="Google Shape;212;p24"/>
          <p:cNvPicPr preferRelativeResize="0"/>
          <p:nvPr/>
        </p:nvPicPr>
        <p:blipFill>
          <a:blip r:embed="rId3">
            <a:alphaModFix/>
          </a:blip>
          <a:stretch>
            <a:fillRect/>
          </a:stretch>
        </p:blipFill>
        <p:spPr>
          <a:xfrm>
            <a:off x="235700" y="999549"/>
            <a:ext cx="8635274" cy="3886226"/>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25"/>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3300">
                <a:latin typeface="Calibri"/>
                <a:ea typeface="Calibri"/>
                <a:cs typeface="Calibri"/>
                <a:sym typeface="Calibri"/>
              </a:rPr>
              <a:t>Backend REST API</a:t>
            </a:r>
            <a:endParaRPr sz="3300">
              <a:latin typeface="Calibri"/>
              <a:ea typeface="Calibri"/>
              <a:cs typeface="Calibri"/>
              <a:sym typeface="Calibri"/>
            </a:endParaRPr>
          </a:p>
        </p:txBody>
      </p:sp>
      <p:sp>
        <p:nvSpPr>
          <p:cNvPr id="218" name="Google Shape;218;p25"/>
          <p:cNvSpPr txBox="1"/>
          <p:nvPr>
            <p:ph idx="1" type="body"/>
          </p:nvPr>
        </p:nvSpPr>
        <p:spPr>
          <a:xfrm>
            <a:off x="692800" y="1990725"/>
            <a:ext cx="7632000" cy="2448000"/>
          </a:xfrm>
          <a:prstGeom prst="rect">
            <a:avLst/>
          </a:prstGeom>
        </p:spPr>
        <p:txBody>
          <a:bodyPr anchorCtr="0" anchor="t" bIns="91425" lIns="91425" spcFirstLastPara="1" rIns="91425" wrap="square" tIns="91425">
            <a:normAutofit fontScale="70000" lnSpcReduction="20000"/>
          </a:bodyPr>
          <a:lstStyle/>
          <a:p>
            <a:pPr indent="0" lvl="0" marL="0" rtl="0" algn="l">
              <a:lnSpc>
                <a:spcPct val="100000"/>
              </a:lnSpc>
              <a:spcBef>
                <a:spcPts val="0"/>
              </a:spcBef>
              <a:spcAft>
                <a:spcPts val="0"/>
              </a:spcAft>
              <a:buNone/>
            </a:pPr>
            <a:r>
              <a:rPr lang="en"/>
              <a:t>The heart of the backend is a REST API that’s queryable through HTTP GET requests. Data is accessed from our local repository of artists and then transformed into a JSON payload.</a:t>
            </a:r>
            <a:endParaRPr/>
          </a:p>
          <a:p>
            <a:pPr indent="0" lvl="0" marL="0" rtl="0" algn="l">
              <a:lnSpc>
                <a:spcPct val="100000"/>
              </a:lnSpc>
              <a:spcBef>
                <a:spcPts val="1200"/>
              </a:spcBef>
              <a:spcAft>
                <a:spcPts val="0"/>
              </a:spcAft>
              <a:buNone/>
            </a:pPr>
            <a:r>
              <a:rPr lang="en"/>
              <a:t>We’ve expanded the dataset and endpoints considerably since Sprint 1.</a:t>
            </a:r>
            <a:endParaRPr/>
          </a:p>
          <a:p>
            <a:pPr indent="0" lvl="0" marL="0" rtl="0" algn="l">
              <a:lnSpc>
                <a:spcPct val="100000"/>
              </a:lnSpc>
              <a:spcBef>
                <a:spcPts val="1200"/>
              </a:spcBef>
              <a:spcAft>
                <a:spcPts val="1200"/>
              </a:spcAft>
              <a:buNone/>
            </a:pPr>
            <a:br>
              <a:rPr i="1" lang="en"/>
            </a:br>
            <a:r>
              <a:rPr i="1" lang="en"/>
              <a:t>/artists/genre</a:t>
            </a:r>
            <a:br>
              <a:rPr i="1" lang="en"/>
            </a:br>
            <a:r>
              <a:rPr i="1" lang="en"/>
              <a:t>/artists/location</a:t>
            </a:r>
            <a:br>
              <a:rPr i="1" lang="en"/>
            </a:br>
            <a:r>
              <a:rPr i="1" lang="en"/>
              <a:t>/ - (root that returns the current API spec and version)</a:t>
            </a:r>
            <a:br>
              <a:rPr i="1" lang="en"/>
            </a:br>
            <a:r>
              <a:rPr i="1" lang="en"/>
              <a:t>/local/audio</a:t>
            </a:r>
            <a:br>
              <a:rPr i="1" lang="en"/>
            </a:br>
            <a:r>
              <a:rPr i="1" lang="en"/>
              <a:t>/artists</a:t>
            </a:r>
            <a:br>
              <a:rPr i="1" lang="en"/>
            </a:br>
            <a:r>
              <a:rPr i="1" lang="en"/>
              <a:t>/artists/{name}</a:t>
            </a:r>
            <a:br>
              <a:rPr i="1" lang="en"/>
            </a:br>
            <a:r>
              <a:rPr i="1" lang="en"/>
              <a:t>/artists/{name}/description</a:t>
            </a:r>
            <a:br>
              <a:rPr i="1" lang="en"/>
            </a:br>
            <a:r>
              <a:rPr i="1" lang="en"/>
              <a:t>/artists/{name}/image</a:t>
            </a:r>
            <a:br>
              <a:rPr i="1" lang="en"/>
            </a:br>
            <a:r>
              <a:rPr i="1" lang="en"/>
              <a:t>/artists/{name}/albums</a:t>
            </a:r>
            <a:br>
              <a:rPr i="1" lang="en"/>
            </a:br>
            <a:r>
              <a:rPr i="1" lang="en"/>
              <a:t>/album/{title}/description</a:t>
            </a:r>
            <a:br>
              <a:rPr i="1" lang="en"/>
            </a:br>
            <a:br>
              <a:rPr i="1" lang="en"/>
            </a:br>
            <a:r>
              <a:rPr i="1" lang="en"/>
              <a:t>POST /artists/register</a:t>
            </a:r>
            <a:br>
              <a:rPr i="1" lang="en"/>
            </a:br>
            <a:r>
              <a:rPr i="1" lang="en"/>
              <a:t>POST /artists/register/discography</a:t>
            </a:r>
            <a:endParaRPr i="1"/>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26"/>
          <p:cNvSpPr txBox="1"/>
          <p:nvPr>
            <p:ph type="title"/>
          </p:nvPr>
        </p:nvSpPr>
        <p:spPr>
          <a:xfrm>
            <a:off x="468700" y="163125"/>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3300">
                <a:latin typeface="Calibri"/>
                <a:ea typeface="Calibri"/>
                <a:cs typeface="Calibri"/>
                <a:sym typeface="Calibri"/>
              </a:rPr>
              <a:t>API Request Example </a:t>
            </a:r>
            <a:endParaRPr sz="3300">
              <a:latin typeface="Calibri"/>
              <a:ea typeface="Calibri"/>
              <a:cs typeface="Calibri"/>
              <a:sym typeface="Calibri"/>
            </a:endParaRPr>
          </a:p>
        </p:txBody>
      </p:sp>
      <p:pic>
        <p:nvPicPr>
          <p:cNvPr id="224" name="Google Shape;224;p26"/>
          <p:cNvPicPr preferRelativeResize="0"/>
          <p:nvPr/>
        </p:nvPicPr>
        <p:blipFill>
          <a:blip r:embed="rId3">
            <a:alphaModFix/>
          </a:blip>
          <a:stretch>
            <a:fillRect/>
          </a:stretch>
        </p:blipFill>
        <p:spPr>
          <a:xfrm>
            <a:off x="687100" y="789600"/>
            <a:ext cx="7068900" cy="39398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27"/>
          <p:cNvSpPr txBox="1"/>
          <p:nvPr/>
        </p:nvSpPr>
        <p:spPr>
          <a:xfrm>
            <a:off x="494225" y="368900"/>
            <a:ext cx="4834500" cy="692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3300">
                <a:solidFill>
                  <a:schemeClr val="lt1"/>
                </a:solidFill>
                <a:latin typeface="Calibri"/>
                <a:ea typeface="Calibri"/>
                <a:cs typeface="Calibri"/>
                <a:sym typeface="Calibri"/>
              </a:rPr>
              <a:t>Updated Dataset Example</a:t>
            </a:r>
            <a:endParaRPr sz="3300">
              <a:solidFill>
                <a:schemeClr val="lt1"/>
              </a:solidFill>
              <a:latin typeface="Calibri"/>
              <a:ea typeface="Calibri"/>
              <a:cs typeface="Calibri"/>
              <a:sym typeface="Calibri"/>
            </a:endParaRPr>
          </a:p>
        </p:txBody>
      </p:sp>
      <p:sp>
        <p:nvSpPr>
          <p:cNvPr id="230" name="Google Shape;230;p27"/>
          <p:cNvSpPr txBox="1"/>
          <p:nvPr/>
        </p:nvSpPr>
        <p:spPr>
          <a:xfrm>
            <a:off x="302550" y="951600"/>
            <a:ext cx="8569200" cy="3933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dk2"/>
                </a:solidFill>
                <a:latin typeface="Calibri"/>
                <a:ea typeface="Calibri"/>
                <a:cs typeface="Calibri"/>
                <a:sym typeface="Calibri"/>
              </a:rPr>
              <a:t>{</a:t>
            </a:r>
            <a:endParaRPr sz="1000">
              <a:solidFill>
                <a:schemeClr val="dk2"/>
              </a:solidFill>
              <a:latin typeface="Calibri"/>
              <a:ea typeface="Calibri"/>
              <a:cs typeface="Calibri"/>
              <a:sym typeface="Calibri"/>
            </a:endParaRPr>
          </a:p>
          <a:p>
            <a:pPr indent="0" lvl="0" marL="0" rtl="0" algn="l">
              <a:spcBef>
                <a:spcPts val="0"/>
              </a:spcBef>
              <a:spcAft>
                <a:spcPts val="0"/>
              </a:spcAft>
              <a:buNone/>
            </a:pPr>
            <a:r>
              <a:rPr lang="en" sz="1000">
                <a:solidFill>
                  <a:schemeClr val="dk2"/>
                </a:solidFill>
                <a:latin typeface="Calibri"/>
                <a:ea typeface="Calibri"/>
                <a:cs typeface="Calibri"/>
                <a:sym typeface="Calibri"/>
              </a:rPr>
              <a:t>  "alternative rock": [</a:t>
            </a:r>
            <a:endParaRPr sz="1000">
              <a:solidFill>
                <a:schemeClr val="dk2"/>
              </a:solidFill>
              <a:latin typeface="Calibri"/>
              <a:ea typeface="Calibri"/>
              <a:cs typeface="Calibri"/>
              <a:sym typeface="Calibri"/>
            </a:endParaRPr>
          </a:p>
          <a:p>
            <a:pPr indent="0" lvl="0" marL="0" rtl="0" algn="l">
              <a:spcBef>
                <a:spcPts val="0"/>
              </a:spcBef>
              <a:spcAft>
                <a:spcPts val="0"/>
              </a:spcAft>
              <a:buNone/>
            </a:pPr>
            <a:r>
              <a:rPr lang="en" sz="1000">
                <a:solidFill>
                  <a:schemeClr val="dk2"/>
                </a:solidFill>
                <a:latin typeface="Calibri"/>
                <a:ea typeface="Calibri"/>
                <a:cs typeface="Calibri"/>
                <a:sym typeface="Calibri"/>
              </a:rPr>
              <a:t>    {</a:t>
            </a:r>
            <a:endParaRPr sz="1000">
              <a:solidFill>
                <a:schemeClr val="dk2"/>
              </a:solidFill>
              <a:latin typeface="Calibri"/>
              <a:ea typeface="Calibri"/>
              <a:cs typeface="Calibri"/>
              <a:sym typeface="Calibri"/>
            </a:endParaRPr>
          </a:p>
          <a:p>
            <a:pPr indent="0" lvl="0" marL="0" rtl="0" algn="l">
              <a:spcBef>
                <a:spcPts val="0"/>
              </a:spcBef>
              <a:spcAft>
                <a:spcPts val="0"/>
              </a:spcAft>
              <a:buNone/>
            </a:pPr>
            <a:r>
              <a:rPr lang="en" sz="1000">
                <a:solidFill>
                  <a:schemeClr val="dk2"/>
                </a:solidFill>
                <a:latin typeface="Calibri"/>
                <a:ea typeface="Calibri"/>
                <a:cs typeface="Calibri"/>
                <a:sym typeface="Calibri"/>
              </a:rPr>
              <a:t>      "name": "Foo Fighters",</a:t>
            </a:r>
            <a:endParaRPr sz="1000">
              <a:solidFill>
                <a:schemeClr val="dk2"/>
              </a:solidFill>
              <a:latin typeface="Calibri"/>
              <a:ea typeface="Calibri"/>
              <a:cs typeface="Calibri"/>
              <a:sym typeface="Calibri"/>
            </a:endParaRPr>
          </a:p>
          <a:p>
            <a:pPr indent="0" lvl="0" marL="0" rtl="0" algn="l">
              <a:spcBef>
                <a:spcPts val="0"/>
              </a:spcBef>
              <a:spcAft>
                <a:spcPts val="0"/>
              </a:spcAft>
              <a:buNone/>
            </a:pPr>
            <a:r>
              <a:rPr lang="en" sz="1000">
                <a:solidFill>
                  <a:schemeClr val="dk2"/>
                </a:solidFill>
                <a:latin typeface="Calibri"/>
                <a:ea typeface="Calibri"/>
                <a:cs typeface="Calibri"/>
                <a:sym typeface="Calibri"/>
              </a:rPr>
              <a:t>      "location": "Seattle, Washington, USA",</a:t>
            </a:r>
            <a:endParaRPr sz="1000">
              <a:solidFill>
                <a:schemeClr val="dk2"/>
              </a:solidFill>
              <a:latin typeface="Calibri"/>
              <a:ea typeface="Calibri"/>
              <a:cs typeface="Calibri"/>
              <a:sym typeface="Calibri"/>
            </a:endParaRPr>
          </a:p>
          <a:p>
            <a:pPr indent="0" lvl="0" marL="0" rtl="0" algn="l">
              <a:spcBef>
                <a:spcPts val="0"/>
              </a:spcBef>
              <a:spcAft>
                <a:spcPts val="0"/>
              </a:spcAft>
              <a:buNone/>
            </a:pPr>
            <a:r>
              <a:rPr lang="en" sz="1000">
                <a:solidFill>
                  <a:schemeClr val="dk2"/>
                </a:solidFill>
                <a:latin typeface="Calibri"/>
                <a:ea typeface="Calibri"/>
                <a:cs typeface="Calibri"/>
                <a:sym typeface="Calibri"/>
              </a:rPr>
              <a:t>      "summary": "Foo Fighters are an American rock band formed in 1994 in Seattle, Washington. The band was founded by…</a:t>
            </a:r>
            <a:endParaRPr sz="1000">
              <a:solidFill>
                <a:schemeClr val="dk2"/>
              </a:solidFill>
              <a:latin typeface="Calibri"/>
              <a:ea typeface="Calibri"/>
              <a:cs typeface="Calibri"/>
              <a:sym typeface="Calibri"/>
            </a:endParaRPr>
          </a:p>
          <a:p>
            <a:pPr indent="0" lvl="0" marL="0" rtl="0" algn="l">
              <a:spcBef>
                <a:spcPts val="0"/>
              </a:spcBef>
              <a:spcAft>
                <a:spcPts val="0"/>
              </a:spcAft>
              <a:buNone/>
            </a:pPr>
            <a:r>
              <a:rPr lang="en" sz="1000">
                <a:solidFill>
                  <a:schemeClr val="dk2"/>
                </a:solidFill>
                <a:latin typeface="Calibri"/>
                <a:ea typeface="Calibri"/>
                <a:cs typeface="Calibri"/>
                <a:sym typeface="Calibri"/>
              </a:rPr>
              <a:t>      "image": "https://r2.theaudiodb.com/images/media/artist/thumb/vuvqxr1352453964.jpg",</a:t>
            </a:r>
            <a:endParaRPr sz="1000">
              <a:solidFill>
                <a:schemeClr val="dk2"/>
              </a:solidFill>
              <a:latin typeface="Calibri"/>
              <a:ea typeface="Calibri"/>
              <a:cs typeface="Calibri"/>
              <a:sym typeface="Calibri"/>
            </a:endParaRPr>
          </a:p>
          <a:p>
            <a:pPr indent="0" lvl="0" marL="0" rtl="0" algn="l">
              <a:spcBef>
                <a:spcPts val="0"/>
              </a:spcBef>
              <a:spcAft>
                <a:spcPts val="0"/>
              </a:spcAft>
              <a:buNone/>
            </a:pPr>
            <a:r>
              <a:rPr lang="en" sz="1000">
                <a:solidFill>
                  <a:schemeClr val="dk2"/>
                </a:solidFill>
                <a:latin typeface="Calibri"/>
                <a:ea typeface="Calibri"/>
                <a:cs typeface="Calibri"/>
                <a:sym typeface="Calibri"/>
              </a:rPr>
              <a:t>      "albums": [</a:t>
            </a:r>
            <a:endParaRPr sz="1000">
              <a:solidFill>
                <a:schemeClr val="dk2"/>
              </a:solidFill>
              <a:latin typeface="Calibri"/>
              <a:ea typeface="Calibri"/>
              <a:cs typeface="Calibri"/>
              <a:sym typeface="Calibri"/>
            </a:endParaRPr>
          </a:p>
          <a:p>
            <a:pPr indent="0" lvl="0" marL="0" rtl="0" algn="l">
              <a:spcBef>
                <a:spcPts val="0"/>
              </a:spcBef>
              <a:spcAft>
                <a:spcPts val="0"/>
              </a:spcAft>
              <a:buNone/>
            </a:pPr>
            <a:r>
              <a:rPr lang="en" sz="1000">
                <a:solidFill>
                  <a:schemeClr val="dk2"/>
                </a:solidFill>
                <a:latin typeface="Calibri"/>
                <a:ea typeface="Calibri"/>
                <a:cs typeface="Calibri"/>
                <a:sym typeface="Calibri"/>
              </a:rPr>
              <a:t>        {</a:t>
            </a:r>
            <a:endParaRPr sz="1000">
              <a:solidFill>
                <a:schemeClr val="dk2"/>
              </a:solidFill>
              <a:latin typeface="Calibri"/>
              <a:ea typeface="Calibri"/>
              <a:cs typeface="Calibri"/>
              <a:sym typeface="Calibri"/>
            </a:endParaRPr>
          </a:p>
          <a:p>
            <a:pPr indent="0" lvl="0" marL="0" rtl="0" algn="l">
              <a:spcBef>
                <a:spcPts val="0"/>
              </a:spcBef>
              <a:spcAft>
                <a:spcPts val="0"/>
              </a:spcAft>
              <a:buNone/>
            </a:pPr>
            <a:r>
              <a:rPr lang="en" sz="1000">
                <a:solidFill>
                  <a:schemeClr val="dk2"/>
                </a:solidFill>
                <a:latin typeface="Calibri"/>
                <a:ea typeface="Calibri"/>
                <a:cs typeface="Calibri"/>
                <a:sym typeface="Calibri"/>
              </a:rPr>
              <a:t>          "title": "Echoes, Silence, Patience &amp; Grace",</a:t>
            </a:r>
            <a:endParaRPr sz="1000">
              <a:solidFill>
                <a:schemeClr val="dk2"/>
              </a:solidFill>
              <a:latin typeface="Calibri"/>
              <a:ea typeface="Calibri"/>
              <a:cs typeface="Calibri"/>
              <a:sym typeface="Calibri"/>
            </a:endParaRPr>
          </a:p>
          <a:p>
            <a:pPr indent="0" lvl="0" marL="0" rtl="0" algn="l">
              <a:spcBef>
                <a:spcPts val="0"/>
              </a:spcBef>
              <a:spcAft>
                <a:spcPts val="0"/>
              </a:spcAft>
              <a:buNone/>
            </a:pPr>
            <a:r>
              <a:rPr lang="en" sz="1000">
                <a:solidFill>
                  <a:schemeClr val="dk2"/>
                </a:solidFill>
                <a:latin typeface="Calibri"/>
                <a:ea typeface="Calibri"/>
                <a:cs typeface="Calibri"/>
                <a:sym typeface="Calibri"/>
              </a:rPr>
              <a:t>          "year": "2007",</a:t>
            </a:r>
            <a:endParaRPr sz="1000">
              <a:solidFill>
                <a:schemeClr val="dk2"/>
              </a:solidFill>
              <a:latin typeface="Calibri"/>
              <a:ea typeface="Calibri"/>
              <a:cs typeface="Calibri"/>
              <a:sym typeface="Calibri"/>
            </a:endParaRPr>
          </a:p>
          <a:p>
            <a:pPr indent="0" lvl="0" marL="0" rtl="0" algn="l">
              <a:spcBef>
                <a:spcPts val="0"/>
              </a:spcBef>
              <a:spcAft>
                <a:spcPts val="0"/>
              </a:spcAft>
              <a:buNone/>
            </a:pPr>
            <a:r>
              <a:rPr lang="en" sz="1000">
                <a:solidFill>
                  <a:schemeClr val="dk2"/>
                </a:solidFill>
                <a:latin typeface="Calibri"/>
                <a:ea typeface="Calibri"/>
                <a:cs typeface="Calibri"/>
                <a:sym typeface="Calibri"/>
              </a:rPr>
              <a:t>          "image": "https://r2.theaudiodb.com/images/media/album/thumb/echoes-silence-patience--grace-4dd180eb9fbfb.jpg",</a:t>
            </a:r>
            <a:endParaRPr sz="1000">
              <a:solidFill>
                <a:schemeClr val="dk2"/>
              </a:solidFill>
              <a:latin typeface="Calibri"/>
              <a:ea typeface="Calibri"/>
              <a:cs typeface="Calibri"/>
              <a:sym typeface="Calibri"/>
            </a:endParaRPr>
          </a:p>
          <a:p>
            <a:pPr indent="0" lvl="0" marL="0" rtl="0" algn="l">
              <a:spcBef>
                <a:spcPts val="0"/>
              </a:spcBef>
              <a:spcAft>
                <a:spcPts val="0"/>
              </a:spcAft>
              <a:buNone/>
            </a:pPr>
            <a:r>
              <a:rPr lang="en" sz="1000">
                <a:solidFill>
                  <a:schemeClr val="dk2"/>
                </a:solidFill>
                <a:latin typeface="Calibri"/>
                <a:ea typeface="Calibri"/>
                <a:cs typeface="Calibri"/>
                <a:sym typeface="Calibri"/>
              </a:rPr>
              <a:t>          "rating": "8",</a:t>
            </a:r>
            <a:endParaRPr sz="1000">
              <a:solidFill>
                <a:schemeClr val="dk2"/>
              </a:solidFill>
              <a:latin typeface="Calibri"/>
              <a:ea typeface="Calibri"/>
              <a:cs typeface="Calibri"/>
              <a:sym typeface="Calibri"/>
            </a:endParaRPr>
          </a:p>
          <a:p>
            <a:pPr indent="0" lvl="0" marL="0" rtl="0" algn="l">
              <a:spcBef>
                <a:spcPts val="0"/>
              </a:spcBef>
              <a:spcAft>
                <a:spcPts val="0"/>
              </a:spcAft>
              <a:buNone/>
            </a:pPr>
            <a:r>
              <a:rPr lang="en" sz="1000">
                <a:solidFill>
                  <a:schemeClr val="dk2"/>
                </a:solidFill>
                <a:latin typeface="Calibri"/>
                <a:ea typeface="Calibri"/>
                <a:cs typeface="Calibri"/>
                <a:sym typeface="Calibri"/>
              </a:rPr>
              <a:t>          "tracks": [</a:t>
            </a:r>
            <a:endParaRPr sz="1000">
              <a:solidFill>
                <a:schemeClr val="dk2"/>
              </a:solidFill>
              <a:latin typeface="Calibri"/>
              <a:ea typeface="Calibri"/>
              <a:cs typeface="Calibri"/>
              <a:sym typeface="Calibri"/>
            </a:endParaRPr>
          </a:p>
          <a:p>
            <a:pPr indent="0" lvl="0" marL="0" rtl="0" algn="l">
              <a:spcBef>
                <a:spcPts val="0"/>
              </a:spcBef>
              <a:spcAft>
                <a:spcPts val="0"/>
              </a:spcAft>
              <a:buNone/>
            </a:pPr>
            <a:r>
              <a:rPr lang="en" sz="1000">
                <a:solidFill>
                  <a:schemeClr val="dk2"/>
                </a:solidFill>
                <a:latin typeface="Calibri"/>
                <a:ea typeface="Calibri"/>
                <a:cs typeface="Calibri"/>
                <a:sym typeface="Calibri"/>
              </a:rPr>
              <a:t>	…</a:t>
            </a:r>
            <a:endParaRPr sz="1000">
              <a:solidFill>
                <a:schemeClr val="dk2"/>
              </a:solidFill>
              <a:latin typeface="Calibri"/>
              <a:ea typeface="Calibri"/>
              <a:cs typeface="Calibri"/>
              <a:sym typeface="Calibri"/>
            </a:endParaRPr>
          </a:p>
          <a:p>
            <a:pPr indent="0" lvl="0" marL="0" rtl="0" algn="l">
              <a:spcBef>
                <a:spcPts val="0"/>
              </a:spcBef>
              <a:spcAft>
                <a:spcPts val="0"/>
              </a:spcAft>
              <a:buNone/>
            </a:pPr>
            <a:r>
              <a:t/>
            </a:r>
            <a:endParaRPr sz="1000">
              <a:solidFill>
                <a:schemeClr val="dk2"/>
              </a:solidFill>
              <a:latin typeface="Calibri"/>
              <a:ea typeface="Calibri"/>
              <a:cs typeface="Calibri"/>
              <a:sym typeface="Calibri"/>
            </a:endParaRPr>
          </a:p>
          <a:p>
            <a:pPr indent="0" lvl="0" marL="0" rtl="0" algn="l">
              <a:spcBef>
                <a:spcPts val="0"/>
              </a:spcBef>
              <a:spcAft>
                <a:spcPts val="0"/>
              </a:spcAft>
              <a:buNone/>
            </a:pPr>
            <a:r>
              <a:rPr lang="en" sz="1000">
                <a:solidFill>
                  <a:schemeClr val="dk2"/>
                </a:solidFill>
                <a:latin typeface="Calibri"/>
                <a:ea typeface="Calibri"/>
                <a:cs typeface="Calibri"/>
                <a:sym typeface="Calibri"/>
              </a:rPr>
              <a:t>	…</a:t>
            </a:r>
            <a:endParaRPr sz="1000">
              <a:solidFill>
                <a:schemeClr val="dk2"/>
              </a:solidFill>
              <a:latin typeface="Calibri"/>
              <a:ea typeface="Calibri"/>
              <a:cs typeface="Calibri"/>
              <a:sym typeface="Calibri"/>
            </a:endParaRPr>
          </a:p>
          <a:p>
            <a:pPr indent="0" lvl="0" marL="0" rtl="0" algn="l">
              <a:spcBef>
                <a:spcPts val="0"/>
              </a:spcBef>
              <a:spcAft>
                <a:spcPts val="0"/>
              </a:spcAft>
              <a:buNone/>
            </a:pPr>
            <a:r>
              <a:rPr lang="en" sz="1000">
                <a:solidFill>
                  <a:schemeClr val="dk2"/>
                </a:solidFill>
                <a:latin typeface="Calibri"/>
                <a:ea typeface="Calibri"/>
                <a:cs typeface="Calibri"/>
                <a:sym typeface="Calibri"/>
              </a:rPr>
              <a:t>       "coordinates": {</a:t>
            </a:r>
            <a:endParaRPr sz="1000">
              <a:solidFill>
                <a:schemeClr val="dk2"/>
              </a:solidFill>
              <a:latin typeface="Calibri"/>
              <a:ea typeface="Calibri"/>
              <a:cs typeface="Calibri"/>
              <a:sym typeface="Calibri"/>
            </a:endParaRPr>
          </a:p>
          <a:p>
            <a:pPr indent="0" lvl="0" marL="0" rtl="0" algn="l">
              <a:spcBef>
                <a:spcPts val="0"/>
              </a:spcBef>
              <a:spcAft>
                <a:spcPts val="0"/>
              </a:spcAft>
              <a:buNone/>
            </a:pPr>
            <a:r>
              <a:rPr lang="en" sz="1000">
                <a:solidFill>
                  <a:schemeClr val="dk2"/>
                </a:solidFill>
                <a:latin typeface="Calibri"/>
                <a:ea typeface="Calibri"/>
                <a:cs typeface="Calibri"/>
                <a:sym typeface="Calibri"/>
              </a:rPr>
              <a:t>        "latitude": 47.6038321,</a:t>
            </a:r>
            <a:endParaRPr sz="1000">
              <a:solidFill>
                <a:schemeClr val="dk2"/>
              </a:solidFill>
              <a:latin typeface="Calibri"/>
              <a:ea typeface="Calibri"/>
              <a:cs typeface="Calibri"/>
              <a:sym typeface="Calibri"/>
            </a:endParaRPr>
          </a:p>
          <a:p>
            <a:pPr indent="0" lvl="0" marL="0" rtl="0" algn="l">
              <a:spcBef>
                <a:spcPts val="0"/>
              </a:spcBef>
              <a:spcAft>
                <a:spcPts val="0"/>
              </a:spcAft>
              <a:buNone/>
            </a:pPr>
            <a:r>
              <a:rPr lang="en" sz="1000">
                <a:solidFill>
                  <a:schemeClr val="dk2"/>
                </a:solidFill>
                <a:latin typeface="Calibri"/>
                <a:ea typeface="Calibri"/>
                <a:cs typeface="Calibri"/>
                <a:sym typeface="Calibri"/>
              </a:rPr>
              <a:t>        "longitude": -122.330062</a:t>
            </a:r>
            <a:endParaRPr sz="1000">
              <a:solidFill>
                <a:schemeClr val="dk2"/>
              </a:solidFill>
              <a:latin typeface="Calibri"/>
              <a:ea typeface="Calibri"/>
              <a:cs typeface="Calibri"/>
              <a:sym typeface="Calibri"/>
            </a:endParaRPr>
          </a:p>
          <a:p>
            <a:pPr indent="0" lvl="0" marL="0" rtl="0" algn="l">
              <a:spcBef>
                <a:spcPts val="0"/>
              </a:spcBef>
              <a:spcAft>
                <a:spcPts val="0"/>
              </a:spcAft>
              <a:buNone/>
            </a:pPr>
            <a:r>
              <a:rPr lang="en" sz="1000">
                <a:solidFill>
                  <a:schemeClr val="dk2"/>
                </a:solidFill>
                <a:latin typeface="Calibri"/>
                <a:ea typeface="Calibri"/>
                <a:cs typeface="Calibri"/>
                <a:sym typeface="Calibri"/>
              </a:rPr>
              <a:t>      }</a:t>
            </a:r>
            <a:endParaRPr sz="1000">
              <a:solidFill>
                <a:schemeClr val="dk2"/>
              </a:solidFill>
              <a:latin typeface="Calibri"/>
              <a:ea typeface="Calibri"/>
              <a:cs typeface="Calibri"/>
              <a:sym typeface="Calibri"/>
            </a:endParaRPr>
          </a:p>
          <a:p>
            <a:pPr indent="0" lvl="0" marL="0" rtl="0" algn="l">
              <a:spcBef>
                <a:spcPts val="0"/>
              </a:spcBef>
              <a:spcAft>
                <a:spcPts val="0"/>
              </a:spcAft>
              <a:buNone/>
            </a:pPr>
            <a:r>
              <a:rPr lang="en" sz="1000">
                <a:solidFill>
                  <a:schemeClr val="dk2"/>
                </a:solidFill>
                <a:latin typeface="Calibri"/>
                <a:ea typeface="Calibri"/>
                <a:cs typeface="Calibri"/>
                <a:sym typeface="Calibri"/>
              </a:rPr>
              <a:t>},</a:t>
            </a:r>
            <a:endParaRPr sz="1000">
              <a:solidFill>
                <a:schemeClr val="dk2"/>
              </a:solidFill>
              <a:latin typeface="Calibri"/>
              <a:ea typeface="Calibri"/>
              <a:cs typeface="Calibri"/>
              <a:sym typeface="Calibri"/>
            </a:endParaRPr>
          </a:p>
          <a:p>
            <a:pPr indent="0" lvl="0" marL="0" rtl="0" algn="l">
              <a:spcBef>
                <a:spcPts val="0"/>
              </a:spcBef>
              <a:spcAft>
                <a:spcPts val="0"/>
              </a:spcAft>
              <a:buNone/>
            </a:pPr>
            <a:r>
              <a:t/>
            </a:r>
            <a:endParaRPr sz="1000">
              <a:solidFill>
                <a:schemeClr val="dk2"/>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28"/>
          <p:cNvSpPr txBox="1"/>
          <p:nvPr>
            <p:ph type="title"/>
          </p:nvPr>
        </p:nvSpPr>
        <p:spPr>
          <a:xfrm>
            <a:off x="277325" y="189650"/>
            <a:ext cx="4710000" cy="65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300">
                <a:latin typeface="Calibri"/>
                <a:ea typeface="Calibri"/>
                <a:cs typeface="Calibri"/>
                <a:sym typeface="Calibri"/>
              </a:rPr>
              <a:t>Frontend Routing Schema</a:t>
            </a:r>
            <a:endParaRPr sz="3300">
              <a:latin typeface="Calibri"/>
              <a:ea typeface="Calibri"/>
              <a:cs typeface="Calibri"/>
              <a:sym typeface="Calibri"/>
            </a:endParaRPr>
          </a:p>
        </p:txBody>
      </p:sp>
      <p:pic>
        <p:nvPicPr>
          <p:cNvPr id="236" name="Google Shape;236;p28"/>
          <p:cNvPicPr preferRelativeResize="0"/>
          <p:nvPr/>
        </p:nvPicPr>
        <p:blipFill rotWithShape="1">
          <a:blip r:embed="rId3">
            <a:alphaModFix/>
          </a:blip>
          <a:srcRect b="0" l="0" r="0" t="4952"/>
          <a:stretch/>
        </p:blipFill>
        <p:spPr>
          <a:xfrm>
            <a:off x="229075" y="885000"/>
            <a:ext cx="8662724" cy="401315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29"/>
          <p:cNvSpPr txBox="1"/>
          <p:nvPr>
            <p:ph type="title"/>
          </p:nvPr>
        </p:nvSpPr>
        <p:spPr>
          <a:xfrm>
            <a:off x="277325" y="148025"/>
            <a:ext cx="4710000" cy="65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300">
                <a:latin typeface="Calibri"/>
                <a:ea typeface="Calibri"/>
                <a:cs typeface="Calibri"/>
                <a:sym typeface="Calibri"/>
              </a:rPr>
              <a:t>Backend Routing Schema</a:t>
            </a:r>
            <a:endParaRPr sz="3300">
              <a:latin typeface="Calibri"/>
              <a:ea typeface="Calibri"/>
              <a:cs typeface="Calibri"/>
              <a:sym typeface="Calibri"/>
            </a:endParaRPr>
          </a:p>
        </p:txBody>
      </p:sp>
      <p:pic>
        <p:nvPicPr>
          <p:cNvPr id="242" name="Google Shape;242;p29"/>
          <p:cNvPicPr preferRelativeResize="0"/>
          <p:nvPr/>
        </p:nvPicPr>
        <p:blipFill rotWithShape="1">
          <a:blip r:embed="rId3">
            <a:alphaModFix/>
          </a:blip>
          <a:srcRect b="0" l="0" r="0" t="3697"/>
          <a:stretch/>
        </p:blipFill>
        <p:spPr>
          <a:xfrm>
            <a:off x="339825" y="801725"/>
            <a:ext cx="8458277" cy="4091901"/>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30"/>
          <p:cNvSpPr txBox="1"/>
          <p:nvPr>
            <p:ph type="title"/>
          </p:nvPr>
        </p:nvSpPr>
        <p:spPr>
          <a:xfrm>
            <a:off x="277325" y="168850"/>
            <a:ext cx="5397300" cy="65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300">
                <a:latin typeface="Calibri"/>
                <a:ea typeface="Calibri"/>
                <a:cs typeface="Calibri"/>
                <a:sym typeface="Calibri"/>
              </a:rPr>
              <a:t>Artist Data Entity Diagram</a:t>
            </a:r>
            <a:endParaRPr sz="3300">
              <a:latin typeface="Calibri"/>
              <a:ea typeface="Calibri"/>
              <a:cs typeface="Calibri"/>
              <a:sym typeface="Calibri"/>
            </a:endParaRPr>
          </a:p>
        </p:txBody>
      </p:sp>
      <p:pic>
        <p:nvPicPr>
          <p:cNvPr id="248" name="Google Shape;248;p30"/>
          <p:cNvPicPr preferRelativeResize="0"/>
          <p:nvPr/>
        </p:nvPicPr>
        <p:blipFill rotWithShape="1">
          <a:blip r:embed="rId3">
            <a:alphaModFix/>
          </a:blip>
          <a:srcRect b="0" l="0" r="0" t="9379"/>
          <a:stretch/>
        </p:blipFill>
        <p:spPr>
          <a:xfrm>
            <a:off x="277325" y="822550"/>
            <a:ext cx="8551998" cy="4071074"/>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31"/>
          <p:cNvSpPr txBox="1"/>
          <p:nvPr>
            <p:ph type="title"/>
          </p:nvPr>
        </p:nvSpPr>
        <p:spPr>
          <a:xfrm>
            <a:off x="277325" y="179225"/>
            <a:ext cx="85728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3300">
                <a:latin typeface="Calibri"/>
                <a:ea typeface="Calibri"/>
                <a:cs typeface="Calibri"/>
                <a:sym typeface="Calibri"/>
              </a:rPr>
              <a:t>ETL Flow For Artist and Album to CFYBY Schema</a:t>
            </a:r>
            <a:endParaRPr sz="3300">
              <a:latin typeface="Calibri"/>
              <a:ea typeface="Calibri"/>
              <a:cs typeface="Calibri"/>
              <a:sym typeface="Calibri"/>
            </a:endParaRPr>
          </a:p>
        </p:txBody>
      </p:sp>
      <p:pic>
        <p:nvPicPr>
          <p:cNvPr id="254" name="Google Shape;254;p31" title="Untitled.jpg"/>
          <p:cNvPicPr preferRelativeResize="0"/>
          <p:nvPr/>
        </p:nvPicPr>
        <p:blipFill>
          <a:blip r:embed="rId3">
            <a:alphaModFix/>
          </a:blip>
          <a:stretch>
            <a:fillRect/>
          </a:stretch>
        </p:blipFill>
        <p:spPr>
          <a:xfrm>
            <a:off x="206325" y="776050"/>
            <a:ext cx="8714798" cy="1795700"/>
          </a:xfrm>
          <a:prstGeom prst="rect">
            <a:avLst/>
          </a:prstGeom>
          <a:noFill/>
          <a:ln>
            <a:noFill/>
          </a:ln>
        </p:spPr>
      </p:pic>
      <p:pic>
        <p:nvPicPr>
          <p:cNvPr id="255" name="Google Shape;255;p31" title="Untitled 2.jpg"/>
          <p:cNvPicPr preferRelativeResize="0"/>
          <p:nvPr/>
        </p:nvPicPr>
        <p:blipFill>
          <a:blip r:embed="rId4">
            <a:alphaModFix/>
          </a:blip>
          <a:stretch>
            <a:fillRect/>
          </a:stretch>
        </p:blipFill>
        <p:spPr>
          <a:xfrm>
            <a:off x="214600" y="2571750"/>
            <a:ext cx="8714798" cy="2363500"/>
          </a:xfrm>
          <a:prstGeom prst="rect">
            <a:avLst/>
          </a:prstGeom>
          <a:noFill/>
          <a:ln>
            <a:noFill/>
          </a:ln>
        </p:spPr>
      </p:pic>
      <p:cxnSp>
        <p:nvCxnSpPr>
          <p:cNvPr id="256" name="Google Shape;256;p31"/>
          <p:cNvCxnSpPr/>
          <p:nvPr/>
        </p:nvCxnSpPr>
        <p:spPr>
          <a:xfrm>
            <a:off x="172950" y="2561400"/>
            <a:ext cx="8760600" cy="10500"/>
          </a:xfrm>
          <a:prstGeom prst="straightConnector1">
            <a:avLst/>
          </a:prstGeom>
          <a:noFill/>
          <a:ln cap="flat" cmpd="sng" w="19050">
            <a:solidFill>
              <a:schemeClr val="dk2"/>
            </a:solidFill>
            <a:prstDash val="solid"/>
            <a:round/>
            <a:headEnd len="med" w="med" type="none"/>
            <a:tailEnd len="med" w="med" type="none"/>
          </a:ln>
        </p:spPr>
      </p:cxn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32"/>
          <p:cNvSpPr txBox="1"/>
          <p:nvPr>
            <p:ph type="title"/>
          </p:nvPr>
        </p:nvSpPr>
        <p:spPr>
          <a:xfrm>
            <a:off x="225000" y="354000"/>
            <a:ext cx="8694000" cy="968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3300">
                <a:latin typeface="Calibri"/>
                <a:ea typeface="Calibri"/>
                <a:cs typeface="Calibri"/>
                <a:sym typeface="Calibri"/>
              </a:rPr>
              <a:t>ETL Flow For Artist and Album to CFYBY Schema Cont.</a:t>
            </a:r>
            <a:endParaRPr sz="3300">
              <a:latin typeface="Calibri"/>
              <a:ea typeface="Calibri"/>
              <a:cs typeface="Calibri"/>
              <a:sym typeface="Calibri"/>
            </a:endParaRPr>
          </a:p>
        </p:txBody>
      </p:sp>
      <p:pic>
        <p:nvPicPr>
          <p:cNvPr id="262" name="Google Shape;262;p32" title="Untitled.jpg"/>
          <p:cNvPicPr preferRelativeResize="0"/>
          <p:nvPr/>
        </p:nvPicPr>
        <p:blipFill rotWithShape="1">
          <a:blip r:embed="rId3">
            <a:alphaModFix/>
          </a:blip>
          <a:srcRect b="0" l="0" r="0" t="44364"/>
          <a:stretch/>
        </p:blipFill>
        <p:spPr>
          <a:xfrm>
            <a:off x="225025" y="1974072"/>
            <a:ext cx="8693949" cy="2582150"/>
          </a:xfrm>
          <a:prstGeom prst="rect">
            <a:avLst/>
          </a:prstGeom>
          <a:noFill/>
          <a:ln>
            <a:noFill/>
          </a:ln>
        </p:spPr>
      </p:pic>
      <p:pic>
        <p:nvPicPr>
          <p:cNvPr id="263" name="Google Shape;263;p32" title="Untitled.jpg"/>
          <p:cNvPicPr preferRelativeResize="0"/>
          <p:nvPr/>
        </p:nvPicPr>
        <p:blipFill rotWithShape="1">
          <a:blip r:embed="rId3">
            <a:alphaModFix/>
          </a:blip>
          <a:srcRect b="87622" l="0" r="0" t="0"/>
          <a:stretch/>
        </p:blipFill>
        <p:spPr>
          <a:xfrm>
            <a:off x="225025" y="1499325"/>
            <a:ext cx="8693949" cy="46855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33"/>
          <p:cNvSpPr txBox="1"/>
          <p:nvPr>
            <p:ph type="title"/>
          </p:nvPr>
        </p:nvSpPr>
        <p:spPr>
          <a:xfrm>
            <a:off x="819150" y="28315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3300">
                <a:latin typeface="Calibri"/>
                <a:ea typeface="Calibri"/>
                <a:cs typeface="Calibri"/>
                <a:sym typeface="Calibri"/>
              </a:rPr>
              <a:t>Frontend Search</a:t>
            </a:r>
            <a:endParaRPr sz="3300">
              <a:latin typeface="Calibri"/>
              <a:ea typeface="Calibri"/>
              <a:cs typeface="Calibri"/>
              <a:sym typeface="Calibri"/>
            </a:endParaRPr>
          </a:p>
        </p:txBody>
      </p:sp>
      <p:sp>
        <p:nvSpPr>
          <p:cNvPr id="269" name="Google Shape;269;p33"/>
          <p:cNvSpPr txBox="1"/>
          <p:nvPr/>
        </p:nvSpPr>
        <p:spPr>
          <a:xfrm>
            <a:off x="1004600" y="938525"/>
            <a:ext cx="69822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solidFill>
                  <a:schemeClr val="dk2"/>
                </a:solidFill>
                <a:latin typeface="Calibri"/>
                <a:ea typeface="Calibri"/>
                <a:cs typeface="Calibri"/>
                <a:sym typeface="Calibri"/>
              </a:rPr>
              <a:t>The search page has been updated with a new </a:t>
            </a:r>
            <a:r>
              <a:rPr lang="en" sz="1300">
                <a:solidFill>
                  <a:schemeClr val="dk2"/>
                </a:solidFill>
                <a:latin typeface="Calibri"/>
                <a:ea typeface="Calibri"/>
                <a:cs typeface="Calibri"/>
                <a:sym typeface="Calibri"/>
              </a:rPr>
              <a:t>layout, allowing for search results to be focused more.</a:t>
            </a:r>
            <a:endParaRPr sz="1300">
              <a:solidFill>
                <a:schemeClr val="dk2"/>
              </a:solidFill>
              <a:latin typeface="Calibri"/>
              <a:ea typeface="Calibri"/>
              <a:cs typeface="Calibri"/>
              <a:sym typeface="Calibri"/>
            </a:endParaRPr>
          </a:p>
        </p:txBody>
      </p:sp>
      <p:pic>
        <p:nvPicPr>
          <p:cNvPr id="270" name="Google Shape;270;p33"/>
          <p:cNvPicPr preferRelativeResize="0"/>
          <p:nvPr/>
        </p:nvPicPr>
        <p:blipFill>
          <a:blip r:embed="rId3">
            <a:alphaModFix/>
          </a:blip>
          <a:stretch>
            <a:fillRect/>
          </a:stretch>
        </p:blipFill>
        <p:spPr>
          <a:xfrm>
            <a:off x="1108001" y="1297950"/>
            <a:ext cx="6319250" cy="3513424"/>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34"/>
          <p:cNvSpPr txBox="1"/>
          <p:nvPr>
            <p:ph type="title"/>
          </p:nvPr>
        </p:nvSpPr>
        <p:spPr>
          <a:xfrm>
            <a:off x="819150" y="298875"/>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3300">
                <a:latin typeface="Calibri"/>
                <a:ea typeface="Calibri"/>
                <a:cs typeface="Calibri"/>
                <a:sym typeface="Calibri"/>
              </a:rPr>
              <a:t>Artist Page</a:t>
            </a:r>
            <a:endParaRPr sz="3300">
              <a:latin typeface="Calibri"/>
              <a:ea typeface="Calibri"/>
              <a:cs typeface="Calibri"/>
              <a:sym typeface="Calibri"/>
            </a:endParaRPr>
          </a:p>
        </p:txBody>
      </p:sp>
      <p:sp>
        <p:nvSpPr>
          <p:cNvPr id="276" name="Google Shape;276;p34"/>
          <p:cNvSpPr txBox="1"/>
          <p:nvPr>
            <p:ph idx="1" type="body"/>
          </p:nvPr>
        </p:nvSpPr>
        <p:spPr>
          <a:xfrm>
            <a:off x="819150" y="1069925"/>
            <a:ext cx="7505700" cy="431700"/>
          </a:xfrm>
          <a:prstGeom prst="rect">
            <a:avLst/>
          </a:prstGeom>
        </p:spPr>
        <p:txBody>
          <a:bodyPr anchorCtr="0" anchor="t" bIns="91425" lIns="91425" spcFirstLastPara="1" rIns="91425" wrap="square" tIns="91425">
            <a:normAutofit/>
          </a:bodyPr>
          <a:lstStyle/>
          <a:p>
            <a:pPr indent="0" lvl="0" marL="0" rtl="0" algn="ctr">
              <a:spcBef>
                <a:spcPts val="0"/>
              </a:spcBef>
              <a:spcAft>
                <a:spcPts val="1200"/>
              </a:spcAft>
              <a:buNone/>
            </a:pPr>
            <a:r>
              <a:rPr lang="en"/>
              <a:t>After clicking an artist, the user is taken to a details page that shows more information about the artist.</a:t>
            </a:r>
            <a:endParaRPr/>
          </a:p>
        </p:txBody>
      </p:sp>
      <p:pic>
        <p:nvPicPr>
          <p:cNvPr id="277" name="Google Shape;277;p34"/>
          <p:cNvPicPr preferRelativeResize="0"/>
          <p:nvPr/>
        </p:nvPicPr>
        <p:blipFill>
          <a:blip r:embed="rId3">
            <a:alphaModFix/>
          </a:blip>
          <a:stretch>
            <a:fillRect/>
          </a:stretch>
        </p:blipFill>
        <p:spPr>
          <a:xfrm>
            <a:off x="1235050" y="1710775"/>
            <a:ext cx="6673902" cy="3140251"/>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35"/>
          <p:cNvSpPr txBox="1"/>
          <p:nvPr>
            <p:ph type="title"/>
          </p:nvPr>
        </p:nvSpPr>
        <p:spPr>
          <a:xfrm>
            <a:off x="819150" y="20535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3300">
                <a:latin typeface="Calibri"/>
                <a:ea typeface="Calibri"/>
                <a:cs typeface="Calibri"/>
                <a:sym typeface="Calibri"/>
              </a:rPr>
              <a:t>Artist Registration Page</a:t>
            </a:r>
            <a:endParaRPr sz="3300">
              <a:latin typeface="Calibri"/>
              <a:ea typeface="Calibri"/>
              <a:cs typeface="Calibri"/>
              <a:sym typeface="Calibri"/>
            </a:endParaRPr>
          </a:p>
        </p:txBody>
      </p:sp>
      <p:sp>
        <p:nvSpPr>
          <p:cNvPr id="283" name="Google Shape;283;p35"/>
          <p:cNvSpPr txBox="1"/>
          <p:nvPr>
            <p:ph idx="1" type="body"/>
          </p:nvPr>
        </p:nvSpPr>
        <p:spPr>
          <a:xfrm>
            <a:off x="819150" y="882900"/>
            <a:ext cx="7505700" cy="382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This page allows you to enter an artist's information and discography to register them to our website.</a:t>
            </a:r>
            <a:endParaRPr/>
          </a:p>
        </p:txBody>
      </p:sp>
      <p:pic>
        <p:nvPicPr>
          <p:cNvPr id="284" name="Google Shape;284;p35"/>
          <p:cNvPicPr preferRelativeResize="0"/>
          <p:nvPr/>
        </p:nvPicPr>
        <p:blipFill>
          <a:blip r:embed="rId3">
            <a:alphaModFix/>
          </a:blip>
          <a:stretch>
            <a:fillRect/>
          </a:stretch>
        </p:blipFill>
        <p:spPr>
          <a:xfrm>
            <a:off x="834225" y="1265227"/>
            <a:ext cx="7475551" cy="3586051"/>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36"/>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3300">
                <a:latin typeface="Calibri"/>
                <a:ea typeface="Calibri"/>
                <a:cs typeface="Calibri"/>
                <a:sym typeface="Calibri"/>
              </a:rPr>
              <a:t>Technical Implementation </a:t>
            </a:r>
            <a:endParaRPr sz="3300">
              <a:latin typeface="Calibri"/>
              <a:ea typeface="Calibri"/>
              <a:cs typeface="Calibri"/>
              <a:sym typeface="Calibri"/>
            </a:endParaRPr>
          </a:p>
        </p:txBody>
      </p:sp>
      <p:sp>
        <p:nvSpPr>
          <p:cNvPr id="290" name="Google Shape;290;p36"/>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1100"/>
              <a:t>Platform / Technology Stack: </a:t>
            </a:r>
            <a:endParaRPr b="1" sz="1100"/>
          </a:p>
          <a:p>
            <a:pPr indent="0" lvl="0" marL="0" rtl="0" algn="l">
              <a:spcBef>
                <a:spcPts val="1200"/>
              </a:spcBef>
              <a:spcAft>
                <a:spcPts val="0"/>
              </a:spcAft>
              <a:buNone/>
            </a:pPr>
            <a:r>
              <a:rPr lang="en" sz="1100"/>
              <a:t>Backend Services - </a:t>
            </a:r>
            <a:r>
              <a:rPr lang="en" sz="1100">
                <a:solidFill>
                  <a:srgbClr val="000000"/>
                </a:solidFill>
                <a:latin typeface="Arial"/>
                <a:ea typeface="Arial"/>
                <a:cs typeface="Arial"/>
                <a:sym typeface="Arial"/>
              </a:rPr>
              <a:t>Built with </a:t>
            </a:r>
            <a:r>
              <a:rPr b="1" lang="en" sz="1100">
                <a:solidFill>
                  <a:srgbClr val="000000"/>
                </a:solidFill>
                <a:latin typeface="Arial"/>
                <a:ea typeface="Arial"/>
                <a:cs typeface="Arial"/>
                <a:sym typeface="Arial"/>
              </a:rPr>
              <a:t>Python</a:t>
            </a:r>
            <a:r>
              <a:rPr lang="en" sz="1100">
                <a:solidFill>
                  <a:srgbClr val="000000"/>
                </a:solidFill>
                <a:latin typeface="Arial"/>
                <a:ea typeface="Arial"/>
                <a:cs typeface="Arial"/>
                <a:sym typeface="Arial"/>
              </a:rPr>
              <a:t> using </a:t>
            </a:r>
            <a:r>
              <a:rPr b="1" lang="en" sz="1100">
                <a:solidFill>
                  <a:srgbClr val="000000"/>
                </a:solidFill>
                <a:latin typeface="Arial"/>
                <a:ea typeface="Arial"/>
                <a:cs typeface="Arial"/>
                <a:sym typeface="Arial"/>
              </a:rPr>
              <a:t>FastAPI</a:t>
            </a:r>
            <a:r>
              <a:rPr lang="en" sz="1100">
                <a:solidFill>
                  <a:srgbClr val="000000"/>
                </a:solidFill>
                <a:latin typeface="Arial"/>
                <a:ea typeface="Arial"/>
                <a:cs typeface="Arial"/>
                <a:sym typeface="Arial"/>
              </a:rPr>
              <a:t>, </a:t>
            </a:r>
            <a:r>
              <a:rPr b="1" lang="en" sz="1100">
                <a:solidFill>
                  <a:srgbClr val="000000"/>
                </a:solidFill>
                <a:latin typeface="Arial"/>
                <a:ea typeface="Arial"/>
                <a:cs typeface="Arial"/>
                <a:sym typeface="Arial"/>
              </a:rPr>
              <a:t>MongoDB</a:t>
            </a:r>
            <a:r>
              <a:rPr lang="en" sz="1100">
                <a:solidFill>
                  <a:srgbClr val="000000"/>
                </a:solidFill>
                <a:latin typeface="Arial"/>
                <a:ea typeface="Arial"/>
                <a:cs typeface="Arial"/>
                <a:sym typeface="Arial"/>
              </a:rPr>
              <a:t>,</a:t>
            </a:r>
            <a:br>
              <a:rPr lang="en" sz="1100">
                <a:solidFill>
                  <a:srgbClr val="000000"/>
                </a:solidFill>
                <a:latin typeface="Arial"/>
                <a:ea typeface="Arial"/>
                <a:cs typeface="Arial"/>
                <a:sym typeface="Arial"/>
              </a:rPr>
            </a:br>
            <a:r>
              <a:rPr lang="en" sz="1100">
                <a:solidFill>
                  <a:srgbClr val="000000"/>
                </a:solidFill>
                <a:latin typeface="Arial"/>
                <a:ea typeface="Arial"/>
                <a:cs typeface="Arial"/>
                <a:sym typeface="Arial"/>
              </a:rPr>
              <a:t>deployed on </a:t>
            </a:r>
            <a:r>
              <a:rPr b="1" lang="en" sz="1100">
                <a:solidFill>
                  <a:srgbClr val="000000"/>
                </a:solidFill>
                <a:latin typeface="Arial"/>
                <a:ea typeface="Arial"/>
                <a:cs typeface="Arial"/>
                <a:sym typeface="Arial"/>
              </a:rPr>
              <a:t>AWS</a:t>
            </a:r>
            <a:r>
              <a:rPr lang="en" sz="1100">
                <a:solidFill>
                  <a:srgbClr val="000000"/>
                </a:solidFill>
                <a:latin typeface="Arial"/>
                <a:ea typeface="Arial"/>
                <a:cs typeface="Arial"/>
                <a:sym typeface="Arial"/>
              </a:rPr>
              <a:t> using containerized images via </a:t>
            </a:r>
            <a:r>
              <a:rPr b="1" lang="en" sz="1100">
                <a:solidFill>
                  <a:srgbClr val="000000"/>
                </a:solidFill>
                <a:latin typeface="Arial"/>
                <a:ea typeface="Arial"/>
                <a:cs typeface="Arial"/>
                <a:sym typeface="Arial"/>
              </a:rPr>
              <a:t>Docker Containers</a:t>
            </a:r>
            <a:endParaRPr b="1" sz="1100">
              <a:latin typeface="Arial"/>
              <a:ea typeface="Arial"/>
              <a:cs typeface="Arial"/>
              <a:sym typeface="Arial"/>
            </a:endParaRPr>
          </a:p>
          <a:p>
            <a:pPr indent="0" lvl="0" marL="0" rtl="0" algn="l">
              <a:spcBef>
                <a:spcPts val="1200"/>
              </a:spcBef>
              <a:spcAft>
                <a:spcPts val="0"/>
              </a:spcAft>
              <a:buNone/>
            </a:pPr>
            <a:br>
              <a:rPr lang="en" sz="1100"/>
            </a:br>
            <a:r>
              <a:rPr lang="en" sz="1100"/>
              <a:t>Frontend Application - </a:t>
            </a:r>
            <a:r>
              <a:rPr lang="en" sz="1100">
                <a:solidFill>
                  <a:srgbClr val="000000"/>
                </a:solidFill>
                <a:latin typeface="Arial"/>
                <a:ea typeface="Arial"/>
                <a:cs typeface="Arial"/>
                <a:sym typeface="Arial"/>
              </a:rPr>
              <a:t>Developed with </a:t>
            </a:r>
            <a:r>
              <a:rPr b="1" lang="en" sz="1100">
                <a:solidFill>
                  <a:srgbClr val="000000"/>
                </a:solidFill>
                <a:latin typeface="Arial"/>
                <a:ea typeface="Arial"/>
                <a:cs typeface="Arial"/>
                <a:sym typeface="Arial"/>
              </a:rPr>
              <a:t>React</a:t>
            </a:r>
            <a:r>
              <a:rPr lang="en" sz="1100">
                <a:solidFill>
                  <a:srgbClr val="000000"/>
                </a:solidFill>
                <a:latin typeface="Arial"/>
                <a:ea typeface="Arial"/>
                <a:cs typeface="Arial"/>
                <a:sym typeface="Arial"/>
              </a:rPr>
              <a:t> and </a:t>
            </a:r>
            <a:r>
              <a:rPr b="1" lang="en" sz="1100">
                <a:solidFill>
                  <a:srgbClr val="000000"/>
                </a:solidFill>
                <a:latin typeface="Arial"/>
                <a:ea typeface="Arial"/>
                <a:cs typeface="Arial"/>
                <a:sym typeface="Arial"/>
              </a:rPr>
              <a:t>TypeScript</a:t>
            </a:r>
            <a:r>
              <a:rPr lang="en" sz="1100">
                <a:solidFill>
                  <a:srgbClr val="000000"/>
                </a:solidFill>
                <a:latin typeface="Arial"/>
                <a:ea typeface="Arial"/>
                <a:cs typeface="Arial"/>
                <a:sym typeface="Arial"/>
              </a:rPr>
              <a:t>, styled using </a:t>
            </a:r>
            <a:r>
              <a:rPr b="1" lang="en" sz="1100">
                <a:solidFill>
                  <a:srgbClr val="000000"/>
                </a:solidFill>
                <a:latin typeface="Arial"/>
                <a:ea typeface="Arial"/>
                <a:cs typeface="Arial"/>
                <a:sym typeface="Arial"/>
              </a:rPr>
              <a:t>Material UI,</a:t>
            </a:r>
            <a:br>
              <a:rPr b="1" lang="en" sz="1100">
                <a:solidFill>
                  <a:srgbClr val="000000"/>
                </a:solidFill>
                <a:latin typeface="Arial"/>
                <a:ea typeface="Arial"/>
                <a:cs typeface="Arial"/>
                <a:sym typeface="Arial"/>
              </a:rPr>
            </a:br>
            <a:r>
              <a:rPr lang="en" sz="1100">
                <a:solidFill>
                  <a:srgbClr val="000000"/>
                </a:solidFill>
                <a:latin typeface="Arial"/>
                <a:ea typeface="Arial"/>
                <a:cs typeface="Arial"/>
                <a:sym typeface="Arial"/>
              </a:rPr>
              <a:t>and </a:t>
            </a:r>
            <a:r>
              <a:rPr b="1" lang="en" sz="1100">
                <a:solidFill>
                  <a:srgbClr val="000000"/>
                </a:solidFill>
                <a:latin typeface="Arial"/>
                <a:ea typeface="Arial"/>
                <a:cs typeface="Arial"/>
                <a:sym typeface="Arial"/>
              </a:rPr>
              <a:t>Vite </a:t>
            </a:r>
            <a:r>
              <a:rPr lang="en" sz="1100">
                <a:solidFill>
                  <a:srgbClr val="000000"/>
                </a:solidFill>
                <a:latin typeface="Arial"/>
                <a:ea typeface="Arial"/>
                <a:cs typeface="Arial"/>
                <a:sym typeface="Arial"/>
              </a:rPr>
              <a:t>as a build system</a:t>
            </a:r>
            <a:r>
              <a:rPr b="1" lang="en" sz="1100">
                <a:solidFill>
                  <a:srgbClr val="000000"/>
                </a:solidFill>
                <a:latin typeface="Arial"/>
                <a:ea typeface="Arial"/>
                <a:cs typeface="Arial"/>
                <a:sym typeface="Arial"/>
              </a:rPr>
              <a:t> </a:t>
            </a:r>
            <a:endParaRPr b="1" sz="1100">
              <a:solidFill>
                <a:srgbClr val="000000"/>
              </a:solidFill>
              <a:latin typeface="Arial"/>
              <a:ea typeface="Arial"/>
              <a:cs typeface="Arial"/>
              <a:sym typeface="Arial"/>
            </a:endParaRPr>
          </a:p>
          <a:p>
            <a:pPr indent="0" lvl="0" marL="0" rtl="0" algn="l">
              <a:spcBef>
                <a:spcPts val="1200"/>
              </a:spcBef>
              <a:spcAft>
                <a:spcPts val="0"/>
              </a:spcAft>
              <a:buNone/>
            </a:pPr>
            <a:r>
              <a:t/>
            </a:r>
            <a:endParaRPr sz="1100"/>
          </a:p>
          <a:p>
            <a:pPr indent="0" lvl="0" marL="0" rtl="0" algn="l">
              <a:spcBef>
                <a:spcPts val="1200"/>
              </a:spcBef>
              <a:spcAft>
                <a:spcPts val="1200"/>
              </a:spcAft>
              <a:buNone/>
            </a:pPr>
            <a:r>
              <a:rPr lang="en" sz="1100">
                <a:solidFill>
                  <a:srgbClr val="000000"/>
                </a:solidFill>
                <a:latin typeface="Arial"/>
                <a:ea typeface="Arial"/>
                <a:cs typeface="Arial"/>
                <a:sym typeface="Arial"/>
              </a:rPr>
              <a:t>External Data Sources: Integrated with </a:t>
            </a:r>
            <a:r>
              <a:rPr b="1" lang="en" sz="1100">
                <a:solidFill>
                  <a:srgbClr val="000000"/>
                </a:solidFill>
                <a:latin typeface="Arial"/>
                <a:ea typeface="Arial"/>
                <a:cs typeface="Arial"/>
                <a:sym typeface="Arial"/>
              </a:rPr>
              <a:t>the AudioDB</a:t>
            </a:r>
            <a:endParaRPr sz="1100"/>
          </a:p>
        </p:txBody>
      </p:sp>
      <p:pic>
        <p:nvPicPr>
          <p:cNvPr id="291" name="Google Shape;291;p36"/>
          <p:cNvPicPr preferRelativeResize="0"/>
          <p:nvPr/>
        </p:nvPicPr>
        <p:blipFill>
          <a:blip r:embed="rId3">
            <a:alphaModFix/>
          </a:blip>
          <a:stretch>
            <a:fillRect/>
          </a:stretch>
        </p:blipFill>
        <p:spPr>
          <a:xfrm>
            <a:off x="5909075" y="1636500"/>
            <a:ext cx="564600" cy="564600"/>
          </a:xfrm>
          <a:prstGeom prst="rect">
            <a:avLst/>
          </a:prstGeom>
          <a:noFill/>
          <a:ln>
            <a:noFill/>
          </a:ln>
        </p:spPr>
      </p:pic>
      <p:pic>
        <p:nvPicPr>
          <p:cNvPr id="292" name="Google Shape;292;p36"/>
          <p:cNvPicPr preferRelativeResize="0"/>
          <p:nvPr/>
        </p:nvPicPr>
        <p:blipFill>
          <a:blip r:embed="rId4">
            <a:alphaModFix/>
          </a:blip>
          <a:stretch>
            <a:fillRect/>
          </a:stretch>
        </p:blipFill>
        <p:spPr>
          <a:xfrm>
            <a:off x="6473675" y="2969275"/>
            <a:ext cx="564600" cy="564600"/>
          </a:xfrm>
          <a:prstGeom prst="rect">
            <a:avLst/>
          </a:prstGeom>
          <a:noFill/>
          <a:ln>
            <a:noFill/>
          </a:ln>
        </p:spPr>
      </p:pic>
      <p:pic>
        <p:nvPicPr>
          <p:cNvPr id="293" name="Google Shape;293;p36"/>
          <p:cNvPicPr preferRelativeResize="0"/>
          <p:nvPr/>
        </p:nvPicPr>
        <p:blipFill>
          <a:blip r:embed="rId5">
            <a:alphaModFix/>
          </a:blip>
          <a:stretch>
            <a:fillRect/>
          </a:stretch>
        </p:blipFill>
        <p:spPr>
          <a:xfrm>
            <a:off x="7116963" y="2969271"/>
            <a:ext cx="564598" cy="564598"/>
          </a:xfrm>
          <a:prstGeom prst="rect">
            <a:avLst/>
          </a:prstGeom>
          <a:noFill/>
          <a:ln>
            <a:noFill/>
          </a:ln>
        </p:spPr>
      </p:pic>
      <p:pic>
        <p:nvPicPr>
          <p:cNvPr id="294" name="Google Shape;294;p36"/>
          <p:cNvPicPr preferRelativeResize="0"/>
          <p:nvPr/>
        </p:nvPicPr>
        <p:blipFill>
          <a:blip r:embed="rId6">
            <a:alphaModFix/>
          </a:blip>
          <a:stretch>
            <a:fillRect/>
          </a:stretch>
        </p:blipFill>
        <p:spPr>
          <a:xfrm>
            <a:off x="7760245" y="2969275"/>
            <a:ext cx="564600" cy="564600"/>
          </a:xfrm>
          <a:prstGeom prst="rect">
            <a:avLst/>
          </a:prstGeom>
          <a:noFill/>
          <a:ln>
            <a:noFill/>
          </a:ln>
        </p:spPr>
      </p:pic>
      <p:pic>
        <p:nvPicPr>
          <p:cNvPr id="295" name="Google Shape;295;p36"/>
          <p:cNvPicPr preferRelativeResize="0"/>
          <p:nvPr/>
        </p:nvPicPr>
        <p:blipFill>
          <a:blip r:embed="rId7">
            <a:alphaModFix/>
          </a:blip>
          <a:stretch>
            <a:fillRect/>
          </a:stretch>
        </p:blipFill>
        <p:spPr>
          <a:xfrm>
            <a:off x="4825975" y="3746881"/>
            <a:ext cx="2290999" cy="932094"/>
          </a:xfrm>
          <a:prstGeom prst="rect">
            <a:avLst/>
          </a:prstGeom>
          <a:noFill/>
          <a:ln>
            <a:noFill/>
          </a:ln>
        </p:spPr>
      </p:pic>
      <p:pic>
        <p:nvPicPr>
          <p:cNvPr id="296" name="Google Shape;296;p36"/>
          <p:cNvPicPr preferRelativeResize="0"/>
          <p:nvPr/>
        </p:nvPicPr>
        <p:blipFill rotWithShape="1">
          <a:blip r:embed="rId8">
            <a:alphaModFix/>
          </a:blip>
          <a:srcRect b="0" l="20861" r="26998" t="0"/>
          <a:stretch/>
        </p:blipFill>
        <p:spPr>
          <a:xfrm>
            <a:off x="5650375" y="2151288"/>
            <a:ext cx="564600" cy="698600"/>
          </a:xfrm>
          <a:prstGeom prst="rect">
            <a:avLst/>
          </a:prstGeom>
          <a:noFill/>
          <a:ln>
            <a:noFill/>
          </a:ln>
        </p:spPr>
      </p:pic>
      <p:pic>
        <p:nvPicPr>
          <p:cNvPr id="297" name="Google Shape;297;p36"/>
          <p:cNvPicPr preferRelativeResize="0"/>
          <p:nvPr/>
        </p:nvPicPr>
        <p:blipFill rotWithShape="1">
          <a:blip r:embed="rId9">
            <a:alphaModFix/>
          </a:blip>
          <a:srcRect b="0" l="22172" r="20739" t="0"/>
          <a:stretch/>
        </p:blipFill>
        <p:spPr>
          <a:xfrm>
            <a:off x="6330425" y="2115913"/>
            <a:ext cx="729476" cy="769326"/>
          </a:xfrm>
          <a:prstGeom prst="rect">
            <a:avLst/>
          </a:prstGeom>
          <a:noFill/>
          <a:ln>
            <a:noFill/>
          </a:ln>
        </p:spPr>
      </p:pic>
      <p:pic>
        <p:nvPicPr>
          <p:cNvPr id="298" name="Google Shape;298;p36"/>
          <p:cNvPicPr preferRelativeResize="0"/>
          <p:nvPr/>
        </p:nvPicPr>
        <p:blipFill>
          <a:blip r:embed="rId10">
            <a:alphaModFix/>
          </a:blip>
          <a:stretch>
            <a:fillRect/>
          </a:stretch>
        </p:blipFill>
        <p:spPr>
          <a:xfrm>
            <a:off x="7059908" y="2115913"/>
            <a:ext cx="1025766" cy="769324"/>
          </a:xfrm>
          <a:prstGeom prst="rect">
            <a:avLst/>
          </a:prstGeom>
          <a:noFill/>
          <a:ln>
            <a:noFill/>
          </a:ln>
        </p:spPr>
      </p:pic>
      <p:pic>
        <p:nvPicPr>
          <p:cNvPr id="299" name="Google Shape;299;p36"/>
          <p:cNvPicPr preferRelativeResize="0"/>
          <p:nvPr/>
        </p:nvPicPr>
        <p:blipFill>
          <a:blip r:embed="rId11">
            <a:alphaModFix/>
          </a:blip>
          <a:stretch>
            <a:fillRect/>
          </a:stretch>
        </p:blipFill>
        <p:spPr>
          <a:xfrm>
            <a:off x="6855124" y="1597781"/>
            <a:ext cx="729475" cy="603331"/>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37"/>
          <p:cNvSpPr txBox="1"/>
          <p:nvPr>
            <p:ph type="title"/>
          </p:nvPr>
        </p:nvSpPr>
        <p:spPr>
          <a:xfrm>
            <a:off x="444325" y="59615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3300">
                <a:latin typeface="Calibri"/>
                <a:ea typeface="Calibri"/>
                <a:cs typeface="Calibri"/>
                <a:sym typeface="Calibri"/>
              </a:rPr>
              <a:t>Product Backlog</a:t>
            </a:r>
            <a:endParaRPr sz="3300">
              <a:latin typeface="Calibri"/>
              <a:ea typeface="Calibri"/>
              <a:cs typeface="Calibri"/>
              <a:sym typeface="Calibri"/>
            </a:endParaRPr>
          </a:p>
        </p:txBody>
      </p:sp>
      <p:pic>
        <p:nvPicPr>
          <p:cNvPr id="305" name="Google Shape;305;p37"/>
          <p:cNvPicPr preferRelativeResize="0"/>
          <p:nvPr/>
        </p:nvPicPr>
        <p:blipFill>
          <a:blip r:embed="rId3">
            <a:alphaModFix/>
          </a:blip>
          <a:stretch>
            <a:fillRect/>
          </a:stretch>
        </p:blipFill>
        <p:spPr>
          <a:xfrm>
            <a:off x="361641" y="1689997"/>
            <a:ext cx="8408323" cy="177590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38"/>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3300">
                <a:latin typeface="Calibri"/>
                <a:ea typeface="Calibri"/>
                <a:cs typeface="Calibri"/>
                <a:sym typeface="Calibri"/>
              </a:rPr>
              <a:t>Sprint 2 Backlog</a:t>
            </a:r>
            <a:endParaRPr sz="3300">
              <a:latin typeface="Calibri"/>
              <a:ea typeface="Calibri"/>
              <a:cs typeface="Calibri"/>
              <a:sym typeface="Calibri"/>
            </a:endParaRPr>
          </a:p>
        </p:txBody>
      </p:sp>
      <p:pic>
        <p:nvPicPr>
          <p:cNvPr id="311" name="Google Shape;311;p38" title="Untitled.jpg"/>
          <p:cNvPicPr preferRelativeResize="0"/>
          <p:nvPr/>
        </p:nvPicPr>
        <p:blipFill>
          <a:blip r:embed="rId3">
            <a:alphaModFix/>
          </a:blip>
          <a:stretch>
            <a:fillRect/>
          </a:stretch>
        </p:blipFill>
        <p:spPr>
          <a:xfrm>
            <a:off x="4753874" y="1949488"/>
            <a:ext cx="4052700" cy="1244525"/>
          </a:xfrm>
          <a:prstGeom prst="rect">
            <a:avLst/>
          </a:prstGeom>
          <a:noFill/>
          <a:ln>
            <a:noFill/>
          </a:ln>
        </p:spPr>
      </p:pic>
      <p:sp>
        <p:nvSpPr>
          <p:cNvPr id="312" name="Google Shape;312;p38"/>
          <p:cNvSpPr txBox="1"/>
          <p:nvPr/>
        </p:nvSpPr>
        <p:spPr>
          <a:xfrm>
            <a:off x="428400" y="1800200"/>
            <a:ext cx="4143600" cy="253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solidFill>
                  <a:schemeClr val="dk2"/>
                </a:solidFill>
                <a:latin typeface="Calibri"/>
                <a:ea typeface="Calibri"/>
                <a:cs typeface="Calibri"/>
                <a:sym typeface="Calibri"/>
              </a:rPr>
              <a:t>These were the stories completed in Sprint 2. Each story is estimated using story points, which are reflected in the number column.</a:t>
            </a:r>
            <a:endParaRPr sz="1300">
              <a:solidFill>
                <a:schemeClr val="dk2"/>
              </a:solidFill>
              <a:latin typeface="Calibri"/>
              <a:ea typeface="Calibri"/>
              <a:cs typeface="Calibri"/>
              <a:sym typeface="Calibri"/>
            </a:endParaRPr>
          </a:p>
          <a:p>
            <a:pPr indent="0" lvl="0" marL="0" rtl="0" algn="l">
              <a:spcBef>
                <a:spcPts val="0"/>
              </a:spcBef>
              <a:spcAft>
                <a:spcPts val="0"/>
              </a:spcAft>
              <a:buNone/>
            </a:pPr>
            <a:r>
              <a:t/>
            </a:r>
            <a:endParaRPr sz="1300">
              <a:solidFill>
                <a:schemeClr val="dk2"/>
              </a:solidFill>
              <a:latin typeface="Calibri"/>
              <a:ea typeface="Calibri"/>
              <a:cs typeface="Calibri"/>
              <a:sym typeface="Calibri"/>
            </a:endParaRPr>
          </a:p>
          <a:p>
            <a:pPr indent="-304800" lvl="0" marL="457200" rtl="0" algn="l">
              <a:lnSpc>
                <a:spcPct val="115000"/>
              </a:lnSpc>
              <a:spcBef>
                <a:spcPts val="300"/>
              </a:spcBef>
              <a:spcAft>
                <a:spcPts val="0"/>
              </a:spcAft>
              <a:buSzPts val="1200"/>
              <a:buFont typeface="Calibri"/>
              <a:buChar char="●"/>
            </a:pPr>
            <a:r>
              <a:rPr lang="en" sz="1200">
                <a:latin typeface="Calibri"/>
                <a:ea typeface="Calibri"/>
                <a:cs typeface="Calibri"/>
                <a:sym typeface="Calibri"/>
              </a:rPr>
              <a:t>Story points are a measurement used within Agile to describe the complexity of a given task</a:t>
            </a:r>
            <a:endParaRPr sz="1200">
              <a:latin typeface="Calibri"/>
              <a:ea typeface="Calibri"/>
              <a:cs typeface="Calibri"/>
              <a:sym typeface="Calibri"/>
            </a:endParaRPr>
          </a:p>
          <a:p>
            <a:pPr indent="-304800" lvl="0" marL="457200" rtl="0" algn="l">
              <a:lnSpc>
                <a:spcPct val="115000"/>
              </a:lnSpc>
              <a:spcBef>
                <a:spcPts val="0"/>
              </a:spcBef>
              <a:spcAft>
                <a:spcPts val="0"/>
              </a:spcAft>
              <a:buSzPts val="1200"/>
              <a:buFont typeface="Calibri"/>
              <a:buChar char="●"/>
            </a:pPr>
            <a:r>
              <a:rPr lang="en" sz="1200">
                <a:latin typeface="Calibri"/>
                <a:ea typeface="Calibri"/>
                <a:cs typeface="Calibri"/>
                <a:sym typeface="Calibri"/>
              </a:rPr>
              <a:t>For example, a task can be given either a </a:t>
            </a:r>
            <a:r>
              <a:rPr lang="en" sz="1200">
                <a:latin typeface="Calibri"/>
                <a:ea typeface="Calibri"/>
                <a:cs typeface="Calibri"/>
                <a:sym typeface="Calibri"/>
              </a:rPr>
              <a:t>fibonacci</a:t>
            </a:r>
            <a:r>
              <a:rPr lang="en" sz="1200">
                <a:latin typeface="Calibri"/>
                <a:ea typeface="Calibri"/>
                <a:cs typeface="Calibri"/>
                <a:sym typeface="Calibri"/>
              </a:rPr>
              <a:t> number (1,2,3,5) or T-shirt sizes (S,M,L,XL)</a:t>
            </a:r>
            <a:endParaRPr sz="1200">
              <a:latin typeface="Calibri"/>
              <a:ea typeface="Calibri"/>
              <a:cs typeface="Calibri"/>
              <a:sym typeface="Calibri"/>
            </a:endParaRPr>
          </a:p>
          <a:p>
            <a:pPr indent="-304800" lvl="0" marL="457200" rtl="0" algn="l">
              <a:lnSpc>
                <a:spcPct val="115000"/>
              </a:lnSpc>
              <a:spcBef>
                <a:spcPts val="0"/>
              </a:spcBef>
              <a:spcAft>
                <a:spcPts val="0"/>
              </a:spcAft>
              <a:buSzPts val="1200"/>
              <a:buFont typeface="Calibri"/>
              <a:buChar char="●"/>
            </a:pPr>
            <a:r>
              <a:rPr lang="en" sz="1200">
                <a:latin typeface="Calibri"/>
                <a:ea typeface="Calibri"/>
                <a:cs typeface="Calibri"/>
                <a:sym typeface="Calibri"/>
              </a:rPr>
              <a:t>It's used to ensure that the team members know what the task may entail before taking up the story or feature</a:t>
            </a:r>
            <a:endParaRPr sz="1200">
              <a:latin typeface="Calibri"/>
              <a:ea typeface="Calibri"/>
              <a:cs typeface="Calibri"/>
              <a:sym typeface="Calibri"/>
            </a:endParaRPr>
          </a:p>
          <a:p>
            <a:pPr indent="0" lvl="0" marL="0" rtl="0" algn="l">
              <a:spcBef>
                <a:spcPts val="300"/>
              </a:spcBef>
              <a:spcAft>
                <a:spcPts val="0"/>
              </a:spcAft>
              <a:buNone/>
            </a:pPr>
            <a:r>
              <a:t/>
            </a:r>
            <a:endParaRPr sz="1300">
              <a:solidFill>
                <a:schemeClr val="dk2"/>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39"/>
          <p:cNvSpPr txBox="1"/>
          <p:nvPr>
            <p:ph type="title"/>
          </p:nvPr>
        </p:nvSpPr>
        <p:spPr>
          <a:xfrm>
            <a:off x="540300" y="6349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3300">
                <a:latin typeface="Calibri"/>
                <a:ea typeface="Calibri"/>
                <a:cs typeface="Calibri"/>
                <a:sym typeface="Calibri"/>
              </a:rPr>
              <a:t>Sprint 1 </a:t>
            </a:r>
            <a:r>
              <a:rPr lang="en" sz="3300">
                <a:latin typeface="Calibri"/>
                <a:ea typeface="Calibri"/>
                <a:cs typeface="Calibri"/>
                <a:sym typeface="Calibri"/>
              </a:rPr>
              <a:t>Burndown Chart</a:t>
            </a:r>
            <a:endParaRPr sz="3300">
              <a:latin typeface="Calibri"/>
              <a:ea typeface="Calibri"/>
              <a:cs typeface="Calibri"/>
              <a:sym typeface="Calibri"/>
            </a:endParaRPr>
          </a:p>
        </p:txBody>
      </p:sp>
      <p:pic>
        <p:nvPicPr>
          <p:cNvPr id="318" name="Google Shape;318;p39"/>
          <p:cNvPicPr preferRelativeResize="0"/>
          <p:nvPr/>
        </p:nvPicPr>
        <p:blipFill>
          <a:blip r:embed="rId3">
            <a:alphaModFix/>
          </a:blip>
          <a:stretch>
            <a:fillRect/>
          </a:stretch>
        </p:blipFill>
        <p:spPr>
          <a:xfrm>
            <a:off x="254350" y="1484075"/>
            <a:ext cx="8635300" cy="3253375"/>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40"/>
          <p:cNvSpPr txBox="1"/>
          <p:nvPr>
            <p:ph type="title"/>
          </p:nvPr>
        </p:nvSpPr>
        <p:spPr>
          <a:xfrm>
            <a:off x="455500" y="814625"/>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3300">
                <a:latin typeface="Calibri"/>
                <a:ea typeface="Calibri"/>
                <a:cs typeface="Calibri"/>
                <a:sym typeface="Calibri"/>
              </a:rPr>
              <a:t>Sprint 1 Task Report</a:t>
            </a:r>
            <a:endParaRPr sz="3300">
              <a:latin typeface="Calibri"/>
              <a:ea typeface="Calibri"/>
              <a:cs typeface="Calibri"/>
              <a:sym typeface="Calibri"/>
            </a:endParaRPr>
          </a:p>
        </p:txBody>
      </p:sp>
      <p:pic>
        <p:nvPicPr>
          <p:cNvPr id="324" name="Google Shape;324;p40"/>
          <p:cNvPicPr preferRelativeResize="0"/>
          <p:nvPr/>
        </p:nvPicPr>
        <p:blipFill>
          <a:blip r:embed="rId3">
            <a:alphaModFix/>
          </a:blip>
          <a:stretch>
            <a:fillRect/>
          </a:stretch>
        </p:blipFill>
        <p:spPr>
          <a:xfrm>
            <a:off x="313513" y="1707550"/>
            <a:ext cx="8516977" cy="2019925"/>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41"/>
          <p:cNvSpPr txBox="1"/>
          <p:nvPr>
            <p:ph type="title"/>
          </p:nvPr>
        </p:nvSpPr>
        <p:spPr>
          <a:xfrm>
            <a:off x="506800" y="7623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3300">
                <a:latin typeface="Calibri"/>
                <a:ea typeface="Calibri"/>
                <a:cs typeface="Calibri"/>
                <a:sym typeface="Calibri"/>
              </a:rPr>
              <a:t>Sprint 2 </a:t>
            </a:r>
            <a:r>
              <a:rPr lang="en" sz="3300">
                <a:latin typeface="Calibri"/>
                <a:ea typeface="Calibri"/>
                <a:cs typeface="Calibri"/>
                <a:sym typeface="Calibri"/>
              </a:rPr>
              <a:t>Burndown Chart</a:t>
            </a:r>
            <a:endParaRPr sz="3300">
              <a:latin typeface="Calibri"/>
              <a:ea typeface="Calibri"/>
              <a:cs typeface="Calibri"/>
              <a:sym typeface="Calibri"/>
            </a:endParaRPr>
          </a:p>
        </p:txBody>
      </p:sp>
      <p:pic>
        <p:nvPicPr>
          <p:cNvPr id="330" name="Google Shape;330;p41"/>
          <p:cNvPicPr preferRelativeResize="0"/>
          <p:nvPr/>
        </p:nvPicPr>
        <p:blipFill>
          <a:blip r:embed="rId3">
            <a:alphaModFix/>
          </a:blip>
          <a:stretch>
            <a:fillRect/>
          </a:stretch>
        </p:blipFill>
        <p:spPr>
          <a:xfrm>
            <a:off x="312650" y="1462975"/>
            <a:ext cx="8411173" cy="3377878"/>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42"/>
          <p:cNvSpPr txBox="1"/>
          <p:nvPr>
            <p:ph type="title"/>
          </p:nvPr>
        </p:nvSpPr>
        <p:spPr>
          <a:xfrm>
            <a:off x="391550" y="705775"/>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3300">
                <a:latin typeface="Calibri"/>
                <a:ea typeface="Calibri"/>
                <a:cs typeface="Calibri"/>
                <a:sym typeface="Calibri"/>
              </a:rPr>
              <a:t>Sprint 2 Task Report</a:t>
            </a:r>
            <a:endParaRPr sz="3300">
              <a:latin typeface="Calibri"/>
              <a:ea typeface="Calibri"/>
              <a:cs typeface="Calibri"/>
              <a:sym typeface="Calibri"/>
            </a:endParaRPr>
          </a:p>
        </p:txBody>
      </p:sp>
      <p:pic>
        <p:nvPicPr>
          <p:cNvPr id="336" name="Google Shape;336;p42"/>
          <p:cNvPicPr preferRelativeResize="0"/>
          <p:nvPr/>
        </p:nvPicPr>
        <p:blipFill>
          <a:blip r:embed="rId3">
            <a:alphaModFix/>
          </a:blip>
          <a:stretch>
            <a:fillRect/>
          </a:stretch>
        </p:blipFill>
        <p:spPr>
          <a:xfrm>
            <a:off x="297900" y="1613850"/>
            <a:ext cx="8548198" cy="2957001"/>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43"/>
          <p:cNvSpPr txBox="1"/>
          <p:nvPr>
            <p:ph type="title"/>
          </p:nvPr>
        </p:nvSpPr>
        <p:spPr>
          <a:xfrm>
            <a:off x="270700" y="66065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3300">
                <a:latin typeface="Calibri"/>
                <a:ea typeface="Calibri"/>
                <a:cs typeface="Calibri"/>
                <a:sym typeface="Calibri"/>
              </a:rPr>
              <a:t>Sprint 3 </a:t>
            </a:r>
            <a:r>
              <a:rPr lang="en" sz="3300">
                <a:latin typeface="Calibri"/>
                <a:ea typeface="Calibri"/>
                <a:cs typeface="Calibri"/>
                <a:sym typeface="Calibri"/>
              </a:rPr>
              <a:t>Burndown Chart</a:t>
            </a:r>
            <a:endParaRPr sz="3300">
              <a:latin typeface="Calibri"/>
              <a:ea typeface="Calibri"/>
              <a:cs typeface="Calibri"/>
              <a:sym typeface="Calibri"/>
            </a:endParaRPr>
          </a:p>
        </p:txBody>
      </p:sp>
      <p:pic>
        <p:nvPicPr>
          <p:cNvPr id="342" name="Google Shape;342;p43"/>
          <p:cNvPicPr preferRelativeResize="0"/>
          <p:nvPr/>
        </p:nvPicPr>
        <p:blipFill>
          <a:blip r:embed="rId3">
            <a:alphaModFix/>
          </a:blip>
          <a:stretch>
            <a:fillRect/>
          </a:stretch>
        </p:blipFill>
        <p:spPr>
          <a:xfrm>
            <a:off x="270700" y="1397375"/>
            <a:ext cx="8589875" cy="3256775"/>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44"/>
          <p:cNvSpPr txBox="1"/>
          <p:nvPr>
            <p:ph type="title"/>
          </p:nvPr>
        </p:nvSpPr>
        <p:spPr>
          <a:xfrm>
            <a:off x="298175" y="63565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3300">
                <a:latin typeface="Calibri"/>
                <a:ea typeface="Calibri"/>
                <a:cs typeface="Calibri"/>
                <a:sym typeface="Calibri"/>
              </a:rPr>
              <a:t>Sprint 3 Task Report</a:t>
            </a:r>
            <a:endParaRPr sz="3300">
              <a:latin typeface="Calibri"/>
              <a:ea typeface="Calibri"/>
              <a:cs typeface="Calibri"/>
              <a:sym typeface="Calibri"/>
            </a:endParaRPr>
          </a:p>
        </p:txBody>
      </p:sp>
      <p:pic>
        <p:nvPicPr>
          <p:cNvPr id="348" name="Google Shape;348;p44"/>
          <p:cNvPicPr preferRelativeResize="0"/>
          <p:nvPr/>
        </p:nvPicPr>
        <p:blipFill>
          <a:blip r:embed="rId3">
            <a:alphaModFix/>
          </a:blip>
          <a:stretch>
            <a:fillRect/>
          </a:stretch>
        </p:blipFill>
        <p:spPr>
          <a:xfrm>
            <a:off x="298175" y="1442425"/>
            <a:ext cx="8489498" cy="3430374"/>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45"/>
          <p:cNvSpPr txBox="1"/>
          <p:nvPr>
            <p:ph type="title"/>
          </p:nvPr>
        </p:nvSpPr>
        <p:spPr>
          <a:xfrm>
            <a:off x="379150" y="66265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3300">
                <a:latin typeface="Calibri"/>
                <a:ea typeface="Calibri"/>
                <a:cs typeface="Calibri"/>
                <a:sym typeface="Calibri"/>
              </a:rPr>
              <a:t>Velocity Sprint 2 Vs Sprint 3 Report</a:t>
            </a:r>
            <a:endParaRPr sz="3300">
              <a:latin typeface="Calibri"/>
              <a:ea typeface="Calibri"/>
              <a:cs typeface="Calibri"/>
              <a:sym typeface="Calibri"/>
            </a:endParaRPr>
          </a:p>
        </p:txBody>
      </p:sp>
      <p:pic>
        <p:nvPicPr>
          <p:cNvPr id="354" name="Google Shape;354;p45"/>
          <p:cNvPicPr preferRelativeResize="0"/>
          <p:nvPr/>
        </p:nvPicPr>
        <p:blipFill rotWithShape="1">
          <a:blip r:embed="rId3">
            <a:alphaModFix/>
          </a:blip>
          <a:srcRect b="0" l="0" r="0" t="10152"/>
          <a:stretch/>
        </p:blipFill>
        <p:spPr>
          <a:xfrm>
            <a:off x="208250" y="1384800"/>
            <a:ext cx="8704374" cy="354005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p46"/>
          <p:cNvSpPr txBox="1"/>
          <p:nvPr>
            <p:ph type="title"/>
          </p:nvPr>
        </p:nvSpPr>
        <p:spPr>
          <a:xfrm>
            <a:off x="676775" y="689425"/>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3300">
                <a:latin typeface="Calibri"/>
                <a:ea typeface="Calibri"/>
                <a:cs typeface="Calibri"/>
                <a:sym typeface="Calibri"/>
              </a:rPr>
              <a:t>Historical </a:t>
            </a:r>
            <a:r>
              <a:rPr lang="en" sz="3300">
                <a:latin typeface="Calibri"/>
                <a:ea typeface="Calibri"/>
                <a:cs typeface="Calibri"/>
                <a:sym typeface="Calibri"/>
              </a:rPr>
              <a:t>and</a:t>
            </a:r>
            <a:r>
              <a:rPr lang="en" sz="3300">
                <a:latin typeface="Calibri"/>
                <a:ea typeface="Calibri"/>
                <a:cs typeface="Calibri"/>
                <a:sym typeface="Calibri"/>
              </a:rPr>
              <a:t> Average Velocity</a:t>
            </a:r>
            <a:endParaRPr sz="3300">
              <a:latin typeface="Calibri"/>
              <a:ea typeface="Calibri"/>
              <a:cs typeface="Calibri"/>
              <a:sym typeface="Calibri"/>
            </a:endParaRPr>
          </a:p>
        </p:txBody>
      </p:sp>
      <p:pic>
        <p:nvPicPr>
          <p:cNvPr id="360" name="Google Shape;360;p46"/>
          <p:cNvPicPr preferRelativeResize="0"/>
          <p:nvPr/>
        </p:nvPicPr>
        <p:blipFill rotWithShape="1">
          <a:blip r:embed="rId3">
            <a:alphaModFix/>
          </a:blip>
          <a:srcRect b="0" l="0" r="0" t="12998"/>
          <a:stretch/>
        </p:blipFill>
        <p:spPr>
          <a:xfrm>
            <a:off x="676775" y="1468075"/>
            <a:ext cx="7648075" cy="3373475"/>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p47"/>
          <p:cNvSpPr txBox="1"/>
          <p:nvPr>
            <p:ph type="title"/>
          </p:nvPr>
        </p:nvSpPr>
        <p:spPr>
          <a:xfrm>
            <a:off x="642150" y="63735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3300">
                <a:latin typeface="Calibri"/>
                <a:ea typeface="Calibri"/>
                <a:cs typeface="Calibri"/>
                <a:sym typeface="Calibri"/>
              </a:rPr>
              <a:t>User Stories / Test Cases</a:t>
            </a:r>
            <a:endParaRPr sz="3300">
              <a:latin typeface="Calibri"/>
              <a:ea typeface="Calibri"/>
              <a:cs typeface="Calibri"/>
              <a:sym typeface="Calibri"/>
            </a:endParaRPr>
          </a:p>
        </p:txBody>
      </p:sp>
      <p:pic>
        <p:nvPicPr>
          <p:cNvPr id="366" name="Google Shape;366;p47"/>
          <p:cNvPicPr preferRelativeResize="0"/>
          <p:nvPr/>
        </p:nvPicPr>
        <p:blipFill>
          <a:blip r:embed="rId3">
            <a:alphaModFix/>
          </a:blip>
          <a:stretch>
            <a:fillRect/>
          </a:stretch>
        </p:blipFill>
        <p:spPr>
          <a:xfrm>
            <a:off x="310649" y="1709799"/>
            <a:ext cx="8485350" cy="208775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sp>
        <p:nvSpPr>
          <p:cNvPr id="371" name="Google Shape;371;p48"/>
          <p:cNvSpPr txBox="1"/>
          <p:nvPr>
            <p:ph type="title"/>
          </p:nvPr>
        </p:nvSpPr>
        <p:spPr>
          <a:xfrm>
            <a:off x="311575" y="2850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3300">
                <a:latin typeface="Calibri"/>
                <a:ea typeface="Calibri"/>
                <a:cs typeface="Calibri"/>
                <a:sym typeface="Calibri"/>
              </a:rPr>
              <a:t>User Stories / Test Cases</a:t>
            </a:r>
            <a:endParaRPr sz="3300">
              <a:latin typeface="Calibri"/>
              <a:ea typeface="Calibri"/>
              <a:cs typeface="Calibri"/>
              <a:sym typeface="Calibri"/>
            </a:endParaRPr>
          </a:p>
        </p:txBody>
      </p:sp>
      <p:pic>
        <p:nvPicPr>
          <p:cNvPr id="372" name="Google Shape;372;p48" title="Untitled.jpg"/>
          <p:cNvPicPr preferRelativeResize="0"/>
          <p:nvPr/>
        </p:nvPicPr>
        <p:blipFill>
          <a:blip r:embed="rId3">
            <a:alphaModFix/>
          </a:blip>
          <a:stretch>
            <a:fillRect/>
          </a:stretch>
        </p:blipFill>
        <p:spPr>
          <a:xfrm>
            <a:off x="208250" y="853775"/>
            <a:ext cx="8756424" cy="4081475"/>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sp>
        <p:nvSpPr>
          <p:cNvPr id="377" name="Google Shape;377;p49"/>
          <p:cNvSpPr txBox="1"/>
          <p:nvPr>
            <p:ph type="title"/>
          </p:nvPr>
        </p:nvSpPr>
        <p:spPr>
          <a:xfrm>
            <a:off x="662975" y="525375"/>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3300">
                <a:latin typeface="Calibri"/>
                <a:ea typeface="Calibri"/>
                <a:cs typeface="Calibri"/>
                <a:sym typeface="Calibri"/>
              </a:rPr>
              <a:t>Project Schedule</a:t>
            </a:r>
            <a:endParaRPr sz="3300">
              <a:latin typeface="Calibri"/>
              <a:ea typeface="Calibri"/>
              <a:cs typeface="Calibri"/>
              <a:sym typeface="Calibri"/>
            </a:endParaRPr>
          </a:p>
        </p:txBody>
      </p:sp>
      <p:sp>
        <p:nvSpPr>
          <p:cNvPr id="378" name="Google Shape;378;p49"/>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0" lvl="0" marL="457200" rtl="0" algn="l">
              <a:spcBef>
                <a:spcPts val="0"/>
              </a:spcBef>
              <a:spcAft>
                <a:spcPts val="0"/>
              </a:spcAft>
              <a:buNone/>
            </a:pPr>
            <a:r>
              <a:t/>
            </a:r>
            <a:endParaRPr/>
          </a:p>
          <a:p>
            <a:pPr indent="0" lvl="0" marL="457200" rtl="0" algn="l">
              <a:spcBef>
                <a:spcPts val="1200"/>
              </a:spcBef>
              <a:spcAft>
                <a:spcPts val="0"/>
              </a:spcAft>
              <a:buNone/>
            </a:pPr>
            <a:r>
              <a:t/>
            </a:r>
            <a:endParaRPr/>
          </a:p>
          <a:p>
            <a:pPr indent="-311150" lvl="0" marL="457200" rtl="0" algn="l">
              <a:spcBef>
                <a:spcPts val="1200"/>
              </a:spcBef>
              <a:spcAft>
                <a:spcPts val="0"/>
              </a:spcAft>
              <a:buSzPts val="1300"/>
              <a:buChar char="●"/>
            </a:pPr>
            <a:r>
              <a:rPr lang="en"/>
              <a:t>Sprint 0 : September 2 - September 22 </a:t>
            </a:r>
            <a:endParaRPr/>
          </a:p>
          <a:p>
            <a:pPr indent="-311150" lvl="0" marL="457200" rtl="0" algn="l">
              <a:spcBef>
                <a:spcPts val="0"/>
              </a:spcBef>
              <a:spcAft>
                <a:spcPts val="0"/>
              </a:spcAft>
              <a:buSzPts val="1300"/>
              <a:buChar char="●"/>
            </a:pPr>
            <a:r>
              <a:rPr lang="en"/>
              <a:t>Sprint 1 : September 23 - October 20</a:t>
            </a:r>
            <a:endParaRPr/>
          </a:p>
          <a:p>
            <a:pPr indent="-311150" lvl="0" marL="457200" rtl="0" algn="l">
              <a:spcBef>
                <a:spcPts val="0"/>
              </a:spcBef>
              <a:spcAft>
                <a:spcPts val="0"/>
              </a:spcAft>
              <a:buSzPts val="1300"/>
              <a:buChar char="●"/>
            </a:pPr>
            <a:r>
              <a:rPr lang="en"/>
              <a:t>Sprint 2 : October 21 - November 17</a:t>
            </a:r>
            <a:endParaRPr/>
          </a:p>
          <a:p>
            <a:pPr indent="-311150" lvl="0" marL="457200" rtl="0" algn="l">
              <a:spcBef>
                <a:spcPts val="0"/>
              </a:spcBef>
              <a:spcAft>
                <a:spcPts val="0"/>
              </a:spcAft>
              <a:buSzPts val="1300"/>
              <a:buChar char="●"/>
            </a:pPr>
            <a:r>
              <a:rPr lang="en"/>
              <a:t>Sprint 3 : Completion of MVP: November 18 - December 15</a:t>
            </a:r>
            <a:br>
              <a:rPr lang="en"/>
            </a:br>
            <a:endParaRPr/>
          </a:p>
          <a:p>
            <a:pPr indent="0" lvl="0" marL="0" rtl="0" algn="l">
              <a:spcBef>
                <a:spcPts val="1200"/>
              </a:spcBef>
              <a:spcAft>
                <a:spcPts val="1200"/>
              </a:spcAft>
              <a:buNone/>
            </a:pPr>
            <a:r>
              <a:rPr lang="en"/>
              <a:t>Weekly Meetings: Tuesdays at 6:00PM</a:t>
            </a:r>
            <a:endParaRPr/>
          </a:p>
        </p:txBody>
      </p:sp>
      <p:pic>
        <p:nvPicPr>
          <p:cNvPr id="379" name="Google Shape;379;p49"/>
          <p:cNvPicPr preferRelativeResize="0"/>
          <p:nvPr/>
        </p:nvPicPr>
        <p:blipFill>
          <a:blip r:embed="rId3">
            <a:alphaModFix/>
          </a:blip>
          <a:stretch>
            <a:fillRect/>
          </a:stretch>
        </p:blipFill>
        <p:spPr>
          <a:xfrm>
            <a:off x="235675" y="1292275"/>
            <a:ext cx="8624899" cy="1529350"/>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sp>
        <p:nvSpPr>
          <p:cNvPr id="384" name="Google Shape;384;p50"/>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Retrospective</a:t>
            </a:r>
            <a:endParaRPr/>
          </a:p>
        </p:txBody>
      </p:sp>
      <p:sp>
        <p:nvSpPr>
          <p:cNvPr id="385" name="Google Shape;385;p50"/>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386" name="Google Shape;386;p50"/>
          <p:cNvPicPr preferRelativeResize="0"/>
          <p:nvPr/>
        </p:nvPicPr>
        <p:blipFill>
          <a:blip r:embed="rId3">
            <a:alphaModFix/>
          </a:blip>
          <a:stretch>
            <a:fillRect/>
          </a:stretch>
        </p:blipFill>
        <p:spPr>
          <a:xfrm>
            <a:off x="239875" y="1523250"/>
            <a:ext cx="8593226" cy="3181101"/>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 name="Shape 390"/>
        <p:cNvGrpSpPr/>
        <p:nvPr/>
      </p:nvGrpSpPr>
      <p:grpSpPr>
        <a:xfrm>
          <a:off x="0" y="0"/>
          <a:ext cx="0" cy="0"/>
          <a:chOff x="0" y="0"/>
          <a:chExt cx="0" cy="0"/>
        </a:xfrm>
      </p:grpSpPr>
      <p:sp>
        <p:nvSpPr>
          <p:cNvPr id="391" name="Google Shape;391;p51"/>
          <p:cNvSpPr txBox="1"/>
          <p:nvPr>
            <p:ph type="title"/>
          </p:nvPr>
        </p:nvSpPr>
        <p:spPr>
          <a:xfrm>
            <a:off x="819150" y="7623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3300">
                <a:latin typeface="Calibri"/>
                <a:ea typeface="Calibri"/>
                <a:cs typeface="Calibri"/>
                <a:sym typeface="Calibri"/>
              </a:rPr>
              <a:t>AI Disclosur</a:t>
            </a:r>
            <a:r>
              <a:rPr lang="en" sz="3300">
                <a:latin typeface="Calibri"/>
                <a:ea typeface="Calibri"/>
                <a:cs typeface="Calibri"/>
                <a:sym typeface="Calibri"/>
              </a:rPr>
              <a:t>e</a:t>
            </a:r>
            <a:endParaRPr sz="3300">
              <a:latin typeface="Calibri"/>
              <a:ea typeface="Calibri"/>
              <a:cs typeface="Calibri"/>
              <a:sym typeface="Calibri"/>
            </a:endParaRPr>
          </a:p>
        </p:txBody>
      </p:sp>
      <p:sp>
        <p:nvSpPr>
          <p:cNvPr id="392" name="Google Shape;392;p51"/>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t>These </a:t>
            </a:r>
            <a:r>
              <a:rPr b="1" lang="en"/>
              <a:t>AI Tools were used to aid us in brainstorming and project development:</a:t>
            </a:r>
            <a:endParaRPr b="1"/>
          </a:p>
          <a:p>
            <a:pPr indent="-298450" lvl="1" marL="914400" rtl="0" algn="l">
              <a:spcBef>
                <a:spcPts val="1200"/>
              </a:spcBef>
              <a:spcAft>
                <a:spcPts val="0"/>
              </a:spcAft>
              <a:buSzPts val="1100"/>
              <a:buChar char="-"/>
            </a:pPr>
            <a:r>
              <a:rPr lang="en"/>
              <a:t>Gemini CLI</a:t>
            </a:r>
            <a:endParaRPr/>
          </a:p>
          <a:p>
            <a:pPr indent="-298450" lvl="2" marL="1371600" rtl="0" algn="l">
              <a:spcBef>
                <a:spcPts val="0"/>
              </a:spcBef>
              <a:spcAft>
                <a:spcPts val="0"/>
              </a:spcAft>
              <a:buSzPts val="1100"/>
              <a:buChar char="-"/>
            </a:pPr>
            <a:r>
              <a:rPr lang="en"/>
              <a:t>Used for generating </a:t>
            </a:r>
            <a:r>
              <a:rPr lang="en"/>
              <a:t>boilerplate</a:t>
            </a:r>
            <a:r>
              <a:rPr lang="en"/>
              <a:t> code for frontend webpages and debugging.</a:t>
            </a:r>
            <a:endParaRPr/>
          </a:p>
          <a:p>
            <a:pPr indent="-298450" lvl="1" marL="914400" rtl="0" algn="l">
              <a:spcBef>
                <a:spcPts val="0"/>
              </a:spcBef>
              <a:spcAft>
                <a:spcPts val="0"/>
              </a:spcAft>
              <a:buSzPts val="1100"/>
              <a:buChar char="-"/>
            </a:pPr>
            <a:r>
              <a:rPr lang="en"/>
              <a:t>ChatGPT</a:t>
            </a:r>
            <a:endParaRPr/>
          </a:p>
          <a:p>
            <a:pPr indent="-298450" lvl="2" marL="1371600" rtl="0" algn="l">
              <a:spcBef>
                <a:spcPts val="0"/>
              </a:spcBef>
              <a:spcAft>
                <a:spcPts val="0"/>
              </a:spcAft>
              <a:buSzPts val="1100"/>
              <a:buChar char="-"/>
            </a:pPr>
            <a:r>
              <a:rPr lang="en"/>
              <a:t>Used for brainstorming and debugging.</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sp>
        <p:nvSpPr>
          <p:cNvPr id="397" name="Google Shape;397;p52"/>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sz="4700">
                <a:latin typeface="Calibri"/>
                <a:ea typeface="Calibri"/>
                <a:cs typeface="Calibri"/>
                <a:sym typeface="Calibri"/>
              </a:rPr>
              <a:t>Thank You!</a:t>
            </a:r>
            <a:endParaRPr sz="4700">
              <a:latin typeface="Calibri"/>
              <a:ea typeface="Calibri"/>
              <a:cs typeface="Calibri"/>
              <a:sym typeface="Calibri"/>
            </a:endParaRPr>
          </a:p>
        </p:txBody>
      </p:sp>
      <p:sp>
        <p:nvSpPr>
          <p:cNvPr id="398" name="Google Shape;398;p52"/>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0" lvl="0" marL="0" rtl="0" algn="ctr">
              <a:spcBef>
                <a:spcPts val="0"/>
              </a:spcBef>
              <a:spcAft>
                <a:spcPts val="1200"/>
              </a:spcAft>
              <a:buNone/>
            </a:pPr>
            <a:r>
              <a:rPr lang="en" sz="1800"/>
              <a:t>Wiki Page/Github Repo: </a:t>
            </a:r>
            <a:r>
              <a:rPr lang="en" sz="1800" u="sng">
                <a:solidFill>
                  <a:schemeClr val="hlink"/>
                </a:solidFill>
                <a:hlinkClick r:id="rId3"/>
              </a:rPr>
              <a:t>https://github.com/htmw/F2025-Async/wiki</a:t>
            </a:r>
            <a:endParaRPr sz="1800"/>
          </a:p>
        </p:txBody>
      </p:sp>
    </p:spTree>
  </p:cSld>
  <p:clrMapOvr>
    <a:masterClrMapping/>
  </p:clrMapOvr>
</p:sld>
</file>

<file path=ppt/theme/theme1.xml><?xml version="1.0" encoding="utf-8"?>
<a:theme xmlns:a="http://schemas.openxmlformats.org/drawingml/2006/main" xmlns:r="http://schemas.openxmlformats.org/officeDocument/2006/relationships" name="Shift">
  <a:themeElements>
    <a:clrScheme name="Shift">
      <a:dk1>
        <a:srgbClr val="FFFFFF"/>
      </a:dk1>
      <a:lt1>
        <a:srgbClr val="AF7B51"/>
      </a:lt1>
      <a:dk2>
        <a:srgbClr val="233A44"/>
      </a:dk2>
      <a:lt2>
        <a:srgbClr val="D9D9D9"/>
      </a:lt2>
      <a:accent1>
        <a:srgbClr val="00796B"/>
      </a:accent1>
      <a:accent2>
        <a:srgbClr val="D9563F"/>
      </a:accent2>
      <a:accent3>
        <a:srgbClr val="C4A15A"/>
      </a:accent3>
      <a:accent4>
        <a:srgbClr val="14F597"/>
      </a:accent4>
      <a:accent5>
        <a:srgbClr val="3D4594"/>
      </a:accent5>
      <a:accent6>
        <a:srgbClr val="163EF5"/>
      </a:accent6>
      <a:hlink>
        <a:srgbClr val="3D4594"/>
      </a:hlink>
      <a:folHlink>
        <a:srgbClr val="3D459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